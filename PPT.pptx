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5" r:id="rId22"/>
  </p:sldIdLst>
  <p:sldSz cx="12192000" cy="6858000"/>
  <p:notesSz cx="6858000" cy="9144000"/>
  <p:embeddedFontLst>
    <p:embeddedFont>
      <p:font typeface="Lato Black" panose="020B0604020202020204" charset="0"/>
      <p:bold r:id="rId24"/>
      <p:boldItalic r:id="rId25"/>
    </p:embeddedFont>
    <p:embeddedFont>
      <p:font typeface="Libre Baskerville" panose="020B0604020202020204" charset="0"/>
      <p:regular r:id="rId26"/>
      <p:bold r:id="rId27"/>
      <p:italic r:id="rId28"/>
    </p:embeddedFont>
    <p:embeddedFont>
      <p:font typeface="Calibri" panose="020F050202020403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pb7mUy2uGVlHDpJglrBkB1g4lL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8ea9ba97dd_0_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8ea9ba97dd_0_1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g38ea9ba97dd_0_1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8ea9ba97dd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38ea9ba97dd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g38ea9ba97dd_0_2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8eb29cd6a5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8eb29cd6a5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38eb29cd6a5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8ea9ba97dd_0_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8ea9ba97dd_0_2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g38ea9ba97dd_0_2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8eb29cd6a5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8eb29cd6a5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38eb29cd6a5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8eb29cd6a5_0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8eb29cd6a5_0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g38eb29cd6a5_0_2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8eb29cd6a5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8eb29cd6a5_0_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g38eb29cd6a5_0_4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8eb29cd6a5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8eb29cd6a5_0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g38eb29cd6a5_0_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8eb29cd6a5_0_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8eb29cd6a5_0_5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0" name="Google Shape;190;g38eb29cd6a5_0_5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8eb29cd6a5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8eb29cd6a5_0_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9" name="Google Shape;199;g38eb29cd6a5_0_6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8eb29cd6a5_0_7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8eb29cd6a5_0_7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g38eb29cd6a5_0_7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8eb29cd6a5_0_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8eb29cd6a5_0_8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g38eb29cd6a5_0_8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8eb29cd6a5_0_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38eb29cd6a5_0_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g38eb29cd6a5_0_9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8eb29cd6a5_0_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8eb29cd6a5_0_9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6" name="Google Shape;236;g38eb29cd6a5_0_9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8eb29cd6a5_0_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8eb29cd6a5_0_10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5" name="Google Shape;245;g38eb29cd6a5_0_10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38eb29cd6a5_0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38eb29cd6a5_0_11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g38eb29cd6a5_0_11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262" name="Google Shape;26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7000"/>
            <a:lum/>
          </a:blip>
          <a:srcRect/>
          <a:stretch>
            <a:fillRect/>
          </a:stretch>
        </a:blip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jp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11.jp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5.png"/><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7.jpg"/></Relationships>
</file>

<file path=ppt/slides/_rels/slide1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9.jpg"/></Relationships>
</file>

<file path=ppt/slides/_rels/slide1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21.jpg"/></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5.jpg"/></Relationships>
</file>

<file path=ppt/slides/_rels/slide1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7.jpg"/></Relationships>
</file>

<file path=ppt/slides/_rels/slide1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3.jpg"/></Relationships>
</file>

<file path=ppt/slides/_rels/slide1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3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694098"/>
          </a:xfrm>
          <a:prstGeom prst="rect">
            <a:avLst/>
          </a:prstGeom>
          <a:noFill/>
          <a:ln>
            <a:noFill/>
          </a:ln>
        </p:spPr>
      </p:pic>
      <p:sp>
        <p:nvSpPr>
          <p:cNvPr id="99" name="Google Shape;99;p1"/>
          <p:cNvSpPr txBox="1"/>
          <p:nvPr/>
        </p:nvSpPr>
        <p:spPr>
          <a:xfrm>
            <a:off x="2472900" y="3717976"/>
            <a:ext cx="7246200" cy="846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a:solidFill>
                  <a:schemeClr val="dk1"/>
                </a:solidFill>
                <a:latin typeface="Calibri"/>
                <a:ea typeface="Calibri"/>
                <a:cs typeface="Calibri"/>
                <a:sym typeface="Calibri"/>
              </a:rPr>
              <a:t/>
            </a:r>
            <a:br>
              <a:rPr lang="en-IN" sz="1800" b="0" i="0" u="none" strike="noStrike" cap="none">
                <a:solidFill>
                  <a:schemeClr val="dk1"/>
                </a:solidFill>
                <a:latin typeface="Calibri"/>
                <a:ea typeface="Calibri"/>
                <a:cs typeface="Calibri"/>
                <a:sym typeface="Calibri"/>
              </a:rPr>
            </a:br>
            <a:r>
              <a:rPr lang="en-IN" sz="1800" b="0" i="0" u="none" strike="noStrike" cap="none">
                <a:solidFill>
                  <a:schemeClr val="dk1"/>
                </a:solidFill>
                <a:latin typeface="Calibri"/>
                <a:ea typeface="Calibri"/>
                <a:cs typeface="Calibri"/>
                <a:sym typeface="Calibri"/>
              </a:rPr>
              <a:t>            </a:t>
            </a:r>
            <a:r>
              <a:rPr lang="en-IN" sz="3100" b="1">
                <a:solidFill>
                  <a:schemeClr val="dk1"/>
                </a:solidFill>
                <a:latin typeface="Calibri"/>
                <a:ea typeface="Calibri"/>
                <a:cs typeface="Calibri"/>
                <a:sym typeface="Calibri"/>
              </a:rPr>
              <a:t>MUSIC STORE MANAGEMENT SYSTEM</a:t>
            </a:r>
            <a:endParaRPr sz="2700" b="1" i="0" u="none" strike="noStrike" cap="none">
              <a:solidFill>
                <a:srgbClr val="000000"/>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00" y="1286475"/>
            <a:ext cx="8625900" cy="3417000"/>
          </a:xfrm>
          <a:prstGeom prst="rect">
            <a:avLst/>
          </a:prstGeom>
          <a:noFill/>
          <a:ln>
            <a:noFill/>
          </a:ln>
        </p:spPr>
        <p:txBody>
          <a:bodyPr spcFirstLastPara="1" wrap="square" lIns="91425" tIns="45700" rIns="91425" bIns="45700" anchor="t" anchorCtr="0">
            <a:spAutoFit/>
          </a:bodyPr>
          <a:lstStyle/>
          <a:p>
            <a:pPr marL="457200" marR="0" lvl="0" indent="-400050" algn="l" rtl="0">
              <a:lnSpc>
                <a:spcPct val="100000"/>
              </a:lnSpc>
              <a:spcBef>
                <a:spcPts val="0"/>
              </a:spcBef>
              <a:spcAft>
                <a:spcPts val="0"/>
              </a:spcAft>
              <a:buClr>
                <a:srgbClr val="A61C00"/>
              </a:buClr>
              <a:buSzPts val="2700"/>
              <a:buFont typeface="Calibri"/>
              <a:buChar char="●"/>
            </a:pPr>
            <a:r>
              <a:rPr lang="en-IN" sz="2700" b="1" dirty="0">
                <a:solidFill>
                  <a:srgbClr val="A61C00"/>
                </a:solidFill>
                <a:latin typeface="Calibri"/>
                <a:ea typeface="Calibri"/>
                <a:cs typeface="Calibri"/>
                <a:sym typeface="Calibri"/>
              </a:rPr>
              <a:t>TEAM LEAD:</a:t>
            </a:r>
            <a:endParaRPr sz="2700" b="1" dirty="0">
              <a:solidFill>
                <a:srgbClr val="A61C00"/>
              </a:solidFill>
              <a:latin typeface="Calibri"/>
              <a:ea typeface="Calibri"/>
              <a:cs typeface="Calibri"/>
              <a:sym typeface="Calibri"/>
            </a:endParaRPr>
          </a:p>
          <a:p>
            <a:pPr marL="457200" marR="0" lvl="0" indent="0" algn="l" rtl="0">
              <a:lnSpc>
                <a:spcPct val="100000"/>
              </a:lnSpc>
              <a:spcBef>
                <a:spcPts val="0"/>
              </a:spcBef>
              <a:spcAft>
                <a:spcPts val="0"/>
              </a:spcAft>
              <a:buNone/>
            </a:pPr>
            <a:r>
              <a:rPr lang="en-IN" sz="2700" b="1" dirty="0">
                <a:solidFill>
                  <a:srgbClr val="A61C00"/>
                </a:solidFill>
                <a:latin typeface="Calibri"/>
                <a:ea typeface="Calibri"/>
                <a:cs typeface="Calibri"/>
                <a:sym typeface="Calibri"/>
              </a:rPr>
              <a:t>BHAVANA MATTA </a:t>
            </a:r>
            <a:endParaRPr sz="2700" b="1" dirty="0">
              <a:solidFill>
                <a:srgbClr val="A61C00"/>
              </a:solidFill>
              <a:latin typeface="Calibri"/>
              <a:ea typeface="Calibri"/>
              <a:cs typeface="Calibri"/>
              <a:sym typeface="Calibri"/>
            </a:endParaRPr>
          </a:p>
          <a:p>
            <a:pPr marL="457200" marR="0" lvl="0" indent="0" algn="l" rtl="0">
              <a:lnSpc>
                <a:spcPct val="100000"/>
              </a:lnSpc>
              <a:spcBef>
                <a:spcPts val="0"/>
              </a:spcBef>
              <a:spcAft>
                <a:spcPts val="0"/>
              </a:spcAft>
              <a:buNone/>
            </a:pPr>
            <a:endParaRPr sz="2700" dirty="0">
              <a:solidFill>
                <a:schemeClr val="dk1"/>
              </a:solidFill>
              <a:latin typeface="Calibri"/>
              <a:ea typeface="Calibri"/>
              <a:cs typeface="Calibri"/>
              <a:sym typeface="Calibri"/>
            </a:endParaRPr>
          </a:p>
          <a:p>
            <a:pPr marL="457200" marR="0" lvl="0" indent="-400050" algn="l" rtl="0">
              <a:lnSpc>
                <a:spcPct val="100000"/>
              </a:lnSpc>
              <a:spcBef>
                <a:spcPts val="0"/>
              </a:spcBef>
              <a:spcAft>
                <a:spcPts val="0"/>
              </a:spcAft>
              <a:buClr>
                <a:srgbClr val="A61C00"/>
              </a:buClr>
              <a:buSzPts val="2700"/>
              <a:buFont typeface="Calibri"/>
              <a:buChar char="●"/>
            </a:pPr>
            <a:r>
              <a:rPr lang="en-IN" sz="2700" b="1" dirty="0">
                <a:solidFill>
                  <a:srgbClr val="A61C00"/>
                </a:solidFill>
                <a:latin typeface="Calibri"/>
                <a:ea typeface="Calibri"/>
                <a:cs typeface="Calibri"/>
                <a:sym typeface="Calibri"/>
              </a:rPr>
              <a:t>TEAM MEMBER 1:</a:t>
            </a:r>
            <a:endParaRPr sz="2700" b="1" dirty="0">
              <a:solidFill>
                <a:srgbClr val="A61C00"/>
              </a:solidFill>
              <a:latin typeface="Calibri"/>
              <a:ea typeface="Calibri"/>
              <a:cs typeface="Calibri"/>
              <a:sym typeface="Calibri"/>
            </a:endParaRPr>
          </a:p>
          <a:p>
            <a:pPr marL="457200" marR="0" lvl="0" indent="0" algn="l" rtl="0">
              <a:lnSpc>
                <a:spcPct val="100000"/>
              </a:lnSpc>
              <a:spcBef>
                <a:spcPts val="0"/>
              </a:spcBef>
              <a:spcAft>
                <a:spcPts val="0"/>
              </a:spcAft>
              <a:buNone/>
            </a:pPr>
            <a:r>
              <a:rPr lang="en-IN" sz="2700" b="1" dirty="0">
                <a:solidFill>
                  <a:srgbClr val="A61C00"/>
                </a:solidFill>
                <a:latin typeface="Calibri"/>
                <a:ea typeface="Calibri"/>
                <a:cs typeface="Calibri"/>
                <a:sym typeface="Calibri"/>
              </a:rPr>
              <a:t>NITHISHA POLSANI</a:t>
            </a:r>
            <a:endParaRPr sz="2700" b="1" dirty="0">
              <a:solidFill>
                <a:srgbClr val="A61C00"/>
              </a:solidFill>
              <a:latin typeface="Calibri"/>
              <a:ea typeface="Calibri"/>
              <a:cs typeface="Calibri"/>
              <a:sym typeface="Calibri"/>
            </a:endParaRPr>
          </a:p>
          <a:p>
            <a:pPr marL="0" marR="0" lvl="0" indent="0" algn="l" rtl="0">
              <a:lnSpc>
                <a:spcPct val="100000"/>
              </a:lnSpc>
              <a:spcBef>
                <a:spcPts val="0"/>
              </a:spcBef>
              <a:spcAft>
                <a:spcPts val="0"/>
              </a:spcAft>
              <a:buNone/>
            </a:pPr>
            <a:endParaRPr sz="2700" b="1" i="0" u="none" strike="noStrike" cap="none" dirty="0">
              <a:solidFill>
                <a:schemeClr val="dk1"/>
              </a:solidFill>
              <a:latin typeface="Calibri"/>
              <a:ea typeface="Calibri"/>
              <a:cs typeface="Calibri"/>
              <a:sym typeface="Calibri"/>
            </a:endParaRPr>
          </a:p>
          <a:p>
            <a:pPr marL="457200" marR="0" lvl="0" indent="-400050" algn="l" rtl="0">
              <a:lnSpc>
                <a:spcPct val="100000"/>
              </a:lnSpc>
              <a:spcBef>
                <a:spcPts val="0"/>
              </a:spcBef>
              <a:spcAft>
                <a:spcPts val="0"/>
              </a:spcAft>
              <a:buClr>
                <a:srgbClr val="A61C00"/>
              </a:buClr>
              <a:buSzPts val="2700"/>
              <a:buFont typeface="Calibri"/>
              <a:buChar char="●"/>
            </a:pPr>
            <a:r>
              <a:rPr lang="en-IN" sz="2700" b="1" dirty="0">
                <a:solidFill>
                  <a:srgbClr val="A61C00"/>
                </a:solidFill>
                <a:latin typeface="Calibri"/>
                <a:ea typeface="Calibri"/>
                <a:cs typeface="Calibri"/>
                <a:sym typeface="Calibri"/>
              </a:rPr>
              <a:t>TEAM MEMBER 2:</a:t>
            </a:r>
            <a:endParaRPr sz="2700" b="1" dirty="0">
              <a:solidFill>
                <a:srgbClr val="A61C00"/>
              </a:solidFill>
              <a:latin typeface="Calibri"/>
              <a:ea typeface="Calibri"/>
              <a:cs typeface="Calibri"/>
              <a:sym typeface="Calibri"/>
            </a:endParaRPr>
          </a:p>
          <a:p>
            <a:pPr marL="457200" marR="0" lvl="0" indent="0" algn="l" rtl="0">
              <a:lnSpc>
                <a:spcPct val="100000"/>
              </a:lnSpc>
              <a:spcBef>
                <a:spcPts val="0"/>
              </a:spcBef>
              <a:spcAft>
                <a:spcPts val="0"/>
              </a:spcAft>
              <a:buNone/>
            </a:pPr>
            <a:r>
              <a:rPr lang="en-IN" sz="2700" b="1" dirty="0">
                <a:solidFill>
                  <a:srgbClr val="A61C00"/>
                </a:solidFill>
                <a:latin typeface="Calibri"/>
                <a:ea typeface="Calibri"/>
                <a:cs typeface="Calibri"/>
                <a:sym typeface="Calibri"/>
              </a:rPr>
              <a:t>PAVITHRA CHENNURI</a:t>
            </a:r>
            <a:endParaRPr sz="2700" b="1" dirty="0">
              <a:solidFill>
                <a:srgbClr val="A61C00"/>
              </a:solidFill>
              <a:latin typeface="Calibri"/>
              <a:ea typeface="Calibri"/>
              <a:cs typeface="Calibri"/>
              <a:sym typeface="Calibri"/>
            </a:endParaRPr>
          </a:p>
        </p:txBody>
      </p:sp>
      <p:sp>
        <p:nvSpPr>
          <p:cNvPr id="105" name="Google Shape;105;p3"/>
          <p:cNvSpPr txBox="1"/>
          <p:nvPr/>
        </p:nvSpPr>
        <p:spPr>
          <a:xfrm>
            <a:off x="737800" y="466324"/>
            <a:ext cx="6099600" cy="4863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dirty="0" smtClean="0">
                <a:solidFill>
                  <a:srgbClr val="C00000"/>
                </a:solidFill>
                <a:latin typeface="Lato Black"/>
                <a:ea typeface="Lato Black"/>
                <a:cs typeface="Lato Black"/>
                <a:sym typeface="Lato Black"/>
              </a:rPr>
              <a:t>TEAM NAME : QUERY BEES</a:t>
            </a:r>
            <a:endParaRPr sz="1800" b="1" i="0" u="none" strike="noStrike" cap="none" dirty="0">
              <a:solidFill>
                <a:srgbClr val="C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3200" y="0"/>
            <a:ext cx="10515600" cy="883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t>INTRODUCTION: </a:t>
            </a:r>
            <a:r>
              <a:rPr lang="en-IN" b="1" dirty="0">
                <a:solidFill>
                  <a:srgbClr val="FF0000"/>
                </a:solidFill>
              </a:rPr>
              <a:t> </a:t>
            </a:r>
            <a:endParaRPr b="1" dirty="0">
              <a:solidFill>
                <a:srgbClr val="FF0000"/>
              </a:solidFill>
            </a:endParaRPr>
          </a:p>
        </p:txBody>
      </p:sp>
      <p:sp>
        <p:nvSpPr>
          <p:cNvPr id="111" name="Google Shape;111;p4"/>
          <p:cNvSpPr txBox="1">
            <a:spLocks noGrp="1"/>
          </p:cNvSpPr>
          <p:nvPr>
            <p:ph type="body" idx="1"/>
          </p:nvPr>
        </p:nvSpPr>
        <p:spPr>
          <a:xfrm>
            <a:off x="592200" y="811950"/>
            <a:ext cx="10826100" cy="5715000"/>
          </a:xfrm>
          <a:prstGeom prst="rect">
            <a:avLst/>
          </a:prstGeom>
          <a:noFill/>
          <a:ln>
            <a:noFill/>
          </a:ln>
        </p:spPr>
        <p:txBody>
          <a:bodyPr spcFirstLastPara="1" wrap="square" lIns="91425" tIns="45700" rIns="91425" bIns="45700" anchor="t" anchorCtr="0">
            <a:normAutofit/>
          </a:bodyPr>
          <a:lstStyle/>
          <a:p>
            <a:pPr marL="457200" lvl="0" indent="-438150" algn="l" rtl="0">
              <a:lnSpc>
                <a:spcPct val="90000"/>
              </a:lnSpc>
              <a:spcBef>
                <a:spcPts val="1000"/>
              </a:spcBef>
              <a:spcAft>
                <a:spcPts val="0"/>
              </a:spcAft>
              <a:buSzPts val="2500"/>
              <a:buChar char="•"/>
            </a:pPr>
            <a:r>
              <a:rPr lang="en-IN" sz="2500" dirty="0">
                <a:solidFill>
                  <a:schemeClr val="tx1">
                    <a:lumMod val="95000"/>
                    <a:lumOff val="5000"/>
                  </a:schemeClr>
                </a:solidFill>
              </a:rPr>
              <a:t>The Music Store Management System dataset provided for this project represents a real-world scenario with information about customers, employees, invoices, artists, albums, and tracks.</a:t>
            </a:r>
            <a:endParaRPr sz="2500" dirty="0">
              <a:solidFill>
                <a:schemeClr val="tx1">
                  <a:lumMod val="95000"/>
                  <a:lumOff val="5000"/>
                </a:schemeClr>
              </a:solidFill>
            </a:endParaRPr>
          </a:p>
          <a:p>
            <a:pPr marL="457200" lvl="0" indent="-438150" algn="l" rtl="0">
              <a:lnSpc>
                <a:spcPct val="90000"/>
              </a:lnSpc>
              <a:spcBef>
                <a:spcPts val="1000"/>
              </a:spcBef>
              <a:spcAft>
                <a:spcPts val="0"/>
              </a:spcAft>
              <a:buSzPts val="2500"/>
              <a:buChar char="•"/>
            </a:pPr>
            <a:r>
              <a:rPr lang="en-IN" sz="2500" dirty="0">
                <a:solidFill>
                  <a:schemeClr val="tx1">
                    <a:lumMod val="95000"/>
                    <a:lumOff val="5000"/>
                  </a:schemeClr>
                </a:solidFill>
              </a:rPr>
              <a:t>The project focuses on solving business questions such as finding the best customer, identifying popular genres, and </a:t>
            </a:r>
            <a:r>
              <a:rPr lang="en-IN" sz="2500" dirty="0" err="1">
                <a:solidFill>
                  <a:schemeClr val="tx1">
                    <a:lumMod val="95000"/>
                    <a:lumOff val="5000"/>
                  </a:schemeClr>
                </a:solidFill>
              </a:rPr>
              <a:t>analyzing</a:t>
            </a:r>
            <a:r>
              <a:rPr lang="en-IN" sz="2500" dirty="0">
                <a:solidFill>
                  <a:schemeClr val="tx1">
                    <a:lumMod val="95000"/>
                    <a:lumOff val="5000"/>
                  </a:schemeClr>
                </a:solidFill>
              </a:rPr>
              <a:t> top revenue-generating cities.</a:t>
            </a:r>
            <a:endParaRPr sz="2500" dirty="0">
              <a:solidFill>
                <a:schemeClr val="tx1">
                  <a:lumMod val="95000"/>
                  <a:lumOff val="5000"/>
                </a:schemeClr>
              </a:solidFill>
            </a:endParaRPr>
          </a:p>
          <a:p>
            <a:pPr marL="457200" lvl="0" indent="-444500" algn="l" rtl="0">
              <a:lnSpc>
                <a:spcPct val="90000"/>
              </a:lnSpc>
              <a:spcBef>
                <a:spcPts val="1000"/>
              </a:spcBef>
              <a:spcAft>
                <a:spcPts val="0"/>
              </a:spcAft>
              <a:buSzPts val="2600"/>
              <a:buChar char="•"/>
            </a:pPr>
            <a:r>
              <a:rPr lang="en-IN" sz="2500" dirty="0">
                <a:solidFill>
                  <a:schemeClr val="tx1">
                    <a:lumMod val="95000"/>
                    <a:lumOff val="5000"/>
                  </a:schemeClr>
                </a:solidFill>
              </a:rPr>
              <a:t>To </a:t>
            </a:r>
            <a:r>
              <a:rPr lang="en-IN" sz="2500" dirty="0" err="1">
                <a:solidFill>
                  <a:schemeClr val="tx1">
                    <a:lumMod val="95000"/>
                    <a:lumOff val="5000"/>
                  </a:schemeClr>
                </a:solidFill>
              </a:rPr>
              <a:t>analyze</a:t>
            </a:r>
            <a:r>
              <a:rPr lang="en-IN" sz="2500" dirty="0">
                <a:solidFill>
                  <a:schemeClr val="tx1">
                    <a:lumMod val="95000"/>
                    <a:lumOff val="5000"/>
                  </a:schemeClr>
                </a:solidFill>
              </a:rPr>
              <a:t> the data, We primarily applied joins, aggregate functions, and subqueries, which helped in uncovering meaningful insights.</a:t>
            </a:r>
            <a:endParaRPr sz="3800" dirty="0">
              <a:solidFill>
                <a:schemeClr val="tx1">
                  <a:lumMod val="95000"/>
                  <a:lumOff val="5000"/>
                </a:schemeClr>
              </a:solidFill>
            </a:endParaRPr>
          </a:p>
          <a:p>
            <a:pPr marL="457200" lvl="0" indent="-444500" algn="l" rtl="0">
              <a:lnSpc>
                <a:spcPct val="90000"/>
              </a:lnSpc>
              <a:spcBef>
                <a:spcPts val="1000"/>
              </a:spcBef>
              <a:spcAft>
                <a:spcPts val="0"/>
              </a:spcAft>
              <a:buSzPts val="2600"/>
              <a:buChar char="•"/>
            </a:pPr>
            <a:r>
              <a:rPr lang="en-IN" sz="2600" dirty="0">
                <a:solidFill>
                  <a:schemeClr val="tx1">
                    <a:lumMod val="95000"/>
                    <a:lumOff val="5000"/>
                  </a:schemeClr>
                </a:solidFill>
              </a:rPr>
              <a:t>Each query was designed to connect different tables and extract valuable patterns, showing how relational databases can support decision-making.</a:t>
            </a:r>
            <a:endParaRPr sz="2600" dirty="0">
              <a:solidFill>
                <a:schemeClr val="tx1">
                  <a:lumMod val="95000"/>
                  <a:lumOff val="5000"/>
                </a:schemeClr>
              </a:solidFill>
            </a:endParaRPr>
          </a:p>
          <a:p>
            <a:pPr marL="457200" lvl="0" indent="-444500" algn="l" rtl="0">
              <a:lnSpc>
                <a:spcPct val="90000"/>
              </a:lnSpc>
              <a:spcBef>
                <a:spcPts val="1000"/>
              </a:spcBef>
              <a:spcAft>
                <a:spcPts val="0"/>
              </a:spcAft>
              <a:buSzPts val="2600"/>
              <a:buChar char="•"/>
            </a:pPr>
            <a:r>
              <a:rPr lang="en-IN" sz="2600" dirty="0">
                <a:solidFill>
                  <a:schemeClr val="tx1">
                    <a:lumMod val="95000"/>
                    <a:lumOff val="5000"/>
                  </a:schemeClr>
                </a:solidFill>
              </a:rPr>
              <a:t>This project helps in understanding the importance of transforming raw data into actionable knowledge.</a:t>
            </a:r>
            <a:endParaRPr sz="2600" dirty="0">
              <a:solidFill>
                <a:schemeClr val="tx1">
                  <a:lumMod val="95000"/>
                  <a:lumOff val="5000"/>
                </a:schemeClr>
              </a:solidFill>
            </a:endParaRPr>
          </a:p>
          <a:p>
            <a:pPr marL="0" lvl="0" indent="0" algn="l" rtl="0">
              <a:lnSpc>
                <a:spcPct val="90000"/>
              </a:lnSpc>
              <a:spcBef>
                <a:spcPts val="1000"/>
              </a:spcBef>
              <a:spcAft>
                <a:spcPts val="0"/>
              </a:spcAft>
              <a:buClr>
                <a:schemeClr val="dk1"/>
              </a:buClr>
              <a:buSzPts val="2800"/>
              <a:buNone/>
            </a:pPr>
            <a:endParaRPr dirty="0">
              <a:solidFill>
                <a:schemeClr val="tx1">
                  <a:lumMod val="95000"/>
                  <a:lumOff val="5000"/>
                </a:schemeClr>
              </a:solidFil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g38ea9ba97dd_0_11"/>
          <p:cNvSpPr txBox="1">
            <a:spLocks noGrp="1"/>
          </p:cNvSpPr>
          <p:nvPr>
            <p:ph type="title"/>
          </p:nvPr>
        </p:nvSpPr>
        <p:spPr>
          <a:xfrm>
            <a:off x="838200" y="144000"/>
            <a:ext cx="10515600" cy="5652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IN"/>
              <a:t>                                </a:t>
            </a:r>
            <a:r>
              <a:rPr lang="en-IN" sz="4000"/>
              <a:t>       </a:t>
            </a:r>
            <a:r>
              <a:rPr lang="en-IN" sz="3777" b="1"/>
              <a:t>TABLES</a:t>
            </a:r>
            <a:endParaRPr sz="3777" b="1"/>
          </a:p>
        </p:txBody>
      </p:sp>
      <p:sp>
        <p:nvSpPr>
          <p:cNvPr id="118" name="Google Shape;118;g38ea9ba97dd_0_11"/>
          <p:cNvSpPr txBox="1">
            <a:spLocks noGrp="1"/>
          </p:cNvSpPr>
          <p:nvPr>
            <p:ph type="body" idx="1"/>
          </p:nvPr>
        </p:nvSpPr>
        <p:spPr>
          <a:xfrm>
            <a:off x="438075" y="709200"/>
            <a:ext cx="11557800" cy="52104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2300" b="1"/>
              <a:t>Genre Table:                                                                       Track Table:</a:t>
            </a:r>
            <a:endParaRPr sz="2300" b="1"/>
          </a:p>
          <a:p>
            <a:pPr marL="0" lvl="0" indent="0" algn="l" rtl="0">
              <a:spcBef>
                <a:spcPts val="1000"/>
              </a:spcBef>
              <a:spcAft>
                <a:spcPts val="0"/>
              </a:spcAft>
              <a:buNone/>
            </a:pPr>
            <a:endParaRPr sz="2300" b="1"/>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r>
              <a:rPr lang="en-IN" sz="2300" b="1"/>
              <a:t> MediaType Table:</a:t>
            </a:r>
            <a:endParaRPr sz="2300" b="1"/>
          </a:p>
          <a:p>
            <a:pPr marL="0" lvl="0" indent="0" algn="l" rtl="0">
              <a:spcBef>
                <a:spcPts val="1000"/>
              </a:spcBef>
              <a:spcAft>
                <a:spcPts val="0"/>
              </a:spcAft>
              <a:buNone/>
            </a:pPr>
            <a:r>
              <a:rPr lang="en-IN"/>
              <a:t>	</a:t>
            </a:r>
            <a:endParaRPr/>
          </a:p>
          <a:p>
            <a:pPr marL="0" lvl="0" indent="0" algn="l" rtl="0">
              <a:spcBef>
                <a:spcPts val="1000"/>
              </a:spcBef>
              <a:spcAft>
                <a:spcPts val="0"/>
              </a:spcAft>
              <a:buNone/>
            </a:pPr>
            <a:endParaRPr sz="2300" b="1"/>
          </a:p>
          <a:p>
            <a:pPr marL="0" lvl="0" indent="0" algn="l" rtl="0">
              <a:spcBef>
                <a:spcPts val="1000"/>
              </a:spcBef>
              <a:spcAft>
                <a:spcPts val="0"/>
              </a:spcAft>
              <a:buNone/>
            </a:pPr>
            <a:endParaRPr sz="2300" b="1"/>
          </a:p>
          <a:p>
            <a:pPr marL="0" lvl="0" indent="0" algn="l" rtl="0">
              <a:spcBef>
                <a:spcPts val="1000"/>
              </a:spcBef>
              <a:spcAft>
                <a:spcPts val="0"/>
              </a:spcAft>
              <a:buNone/>
            </a:pPr>
            <a:r>
              <a:rPr lang="en-IN" sz="2300" b="1"/>
              <a:t>Artist Table:</a:t>
            </a:r>
            <a:endParaRPr sz="2300" b="1"/>
          </a:p>
          <a:p>
            <a:pPr marL="0" lvl="0" indent="0" algn="l" rtl="0">
              <a:spcBef>
                <a:spcPts val="1000"/>
              </a:spcBef>
              <a:spcAft>
                <a:spcPts val="0"/>
              </a:spcAft>
              <a:buNone/>
            </a:pPr>
            <a:endParaRPr sz="2300" b="1"/>
          </a:p>
        </p:txBody>
      </p:sp>
      <p:pic>
        <p:nvPicPr>
          <p:cNvPr id="119" name="Google Shape;119;g38ea9ba97dd_0_11"/>
          <p:cNvPicPr preferRelativeResize="0"/>
          <p:nvPr/>
        </p:nvPicPr>
        <p:blipFill>
          <a:blip r:embed="rId3">
            <a:alphaModFix/>
          </a:blip>
          <a:stretch>
            <a:fillRect/>
          </a:stretch>
        </p:blipFill>
        <p:spPr>
          <a:xfrm>
            <a:off x="732600" y="1155475"/>
            <a:ext cx="5471825" cy="1428750"/>
          </a:xfrm>
          <a:prstGeom prst="rect">
            <a:avLst/>
          </a:prstGeom>
          <a:noFill/>
          <a:ln>
            <a:noFill/>
          </a:ln>
        </p:spPr>
      </p:pic>
      <p:pic>
        <p:nvPicPr>
          <p:cNvPr id="120" name="Google Shape;120;g38ea9ba97dd_0_11"/>
          <p:cNvPicPr preferRelativeResize="0"/>
          <p:nvPr/>
        </p:nvPicPr>
        <p:blipFill rotWithShape="1">
          <a:blip r:embed="rId4">
            <a:alphaModFix/>
          </a:blip>
          <a:srcRect l="6756" r="9624"/>
          <a:stretch/>
        </p:blipFill>
        <p:spPr>
          <a:xfrm>
            <a:off x="642700" y="3107625"/>
            <a:ext cx="5369100" cy="1364900"/>
          </a:xfrm>
          <a:prstGeom prst="rect">
            <a:avLst/>
          </a:prstGeom>
          <a:noFill/>
          <a:ln>
            <a:noFill/>
          </a:ln>
        </p:spPr>
      </p:pic>
      <p:pic>
        <p:nvPicPr>
          <p:cNvPr id="121" name="Google Shape;121;g38ea9ba97dd_0_11"/>
          <p:cNvPicPr preferRelativeResize="0"/>
          <p:nvPr/>
        </p:nvPicPr>
        <p:blipFill rotWithShape="1">
          <a:blip r:embed="rId4">
            <a:alphaModFix/>
          </a:blip>
          <a:srcRect l="6715" r="10069"/>
          <a:stretch/>
        </p:blipFill>
        <p:spPr>
          <a:xfrm>
            <a:off x="642700" y="4995918"/>
            <a:ext cx="5369100" cy="1515425"/>
          </a:xfrm>
          <a:prstGeom prst="rect">
            <a:avLst/>
          </a:prstGeom>
          <a:noFill/>
          <a:ln>
            <a:noFill/>
          </a:ln>
        </p:spPr>
      </p:pic>
      <p:pic>
        <p:nvPicPr>
          <p:cNvPr id="122" name="Google Shape;122;g38ea9ba97dd_0_11"/>
          <p:cNvPicPr preferRelativeResize="0"/>
          <p:nvPr/>
        </p:nvPicPr>
        <p:blipFill>
          <a:blip r:embed="rId5">
            <a:alphaModFix/>
          </a:blip>
          <a:stretch>
            <a:fillRect/>
          </a:stretch>
        </p:blipFill>
        <p:spPr>
          <a:xfrm>
            <a:off x="6789800" y="1235750"/>
            <a:ext cx="5116801" cy="3942700"/>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g38ea9ba97dd_0_20"/>
          <p:cNvSpPr txBox="1">
            <a:spLocks noGrp="1"/>
          </p:cNvSpPr>
          <p:nvPr>
            <p:ph type="title"/>
          </p:nvPr>
        </p:nvSpPr>
        <p:spPr>
          <a:xfrm>
            <a:off x="838200" y="195500"/>
            <a:ext cx="10515600" cy="7065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IN" sz="4000" b="1"/>
              <a:t>                                        TABLES</a:t>
            </a:r>
            <a:endParaRPr sz="4000" b="1"/>
          </a:p>
        </p:txBody>
      </p:sp>
      <p:sp>
        <p:nvSpPr>
          <p:cNvPr id="129" name="Google Shape;129;g38ea9ba97dd_0_20"/>
          <p:cNvSpPr txBox="1">
            <a:spLocks noGrp="1"/>
          </p:cNvSpPr>
          <p:nvPr>
            <p:ph type="body" idx="1"/>
          </p:nvPr>
        </p:nvSpPr>
        <p:spPr>
          <a:xfrm>
            <a:off x="656400" y="901850"/>
            <a:ext cx="11019000" cy="52749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2400" b="1"/>
              <a:t>Employee Table:                                                            Customers Table:</a:t>
            </a:r>
            <a:endParaRPr sz="2400" b="1"/>
          </a:p>
          <a:p>
            <a:pPr marL="0" lvl="0" indent="0" algn="l" rtl="0">
              <a:spcBef>
                <a:spcPts val="1000"/>
              </a:spcBef>
              <a:spcAft>
                <a:spcPts val="0"/>
              </a:spcAft>
              <a:buNone/>
            </a:pPr>
            <a:endParaRPr sz="2400" b="1"/>
          </a:p>
        </p:txBody>
      </p:sp>
      <p:pic>
        <p:nvPicPr>
          <p:cNvPr id="130" name="Google Shape;130;g38ea9ba97dd_0_20"/>
          <p:cNvPicPr preferRelativeResize="0"/>
          <p:nvPr/>
        </p:nvPicPr>
        <p:blipFill>
          <a:blip r:embed="rId3">
            <a:alphaModFix/>
          </a:blip>
          <a:stretch>
            <a:fillRect/>
          </a:stretch>
        </p:blipFill>
        <p:spPr>
          <a:xfrm>
            <a:off x="838200" y="1422725"/>
            <a:ext cx="5186451" cy="4754025"/>
          </a:xfrm>
          <a:prstGeom prst="rect">
            <a:avLst/>
          </a:prstGeom>
          <a:noFill/>
          <a:ln>
            <a:noFill/>
          </a:ln>
        </p:spPr>
      </p:pic>
      <p:pic>
        <p:nvPicPr>
          <p:cNvPr id="131" name="Google Shape;131;g38ea9ba97dd_0_20"/>
          <p:cNvPicPr preferRelativeResize="0"/>
          <p:nvPr/>
        </p:nvPicPr>
        <p:blipFill>
          <a:blip r:embed="rId4">
            <a:alphaModFix/>
          </a:blip>
          <a:stretch>
            <a:fillRect/>
          </a:stretch>
        </p:blipFill>
        <p:spPr>
          <a:xfrm>
            <a:off x="6949325" y="1422725"/>
            <a:ext cx="4982925" cy="4754025"/>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8eb29cd6a5_0_1"/>
          <p:cNvSpPr txBox="1">
            <a:spLocks noGrp="1"/>
          </p:cNvSpPr>
          <p:nvPr>
            <p:ph type="title"/>
          </p:nvPr>
        </p:nvSpPr>
        <p:spPr>
          <a:xfrm>
            <a:off x="838200" y="195500"/>
            <a:ext cx="10515600" cy="5778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IN" sz="4000" b="1"/>
              <a:t>                                         TABLES</a:t>
            </a:r>
            <a:endParaRPr sz="4000" b="1"/>
          </a:p>
        </p:txBody>
      </p:sp>
      <p:sp>
        <p:nvSpPr>
          <p:cNvPr id="138" name="Google Shape;138;g38eb29cd6a5_0_1"/>
          <p:cNvSpPr txBox="1">
            <a:spLocks noGrp="1"/>
          </p:cNvSpPr>
          <p:nvPr>
            <p:ph type="body" idx="1"/>
          </p:nvPr>
        </p:nvSpPr>
        <p:spPr>
          <a:xfrm>
            <a:off x="335325" y="773300"/>
            <a:ext cx="11276100" cy="5146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2300" b="1"/>
              <a:t>Album Table:                                                                   InvoiceLine Table:</a:t>
            </a:r>
            <a:endParaRPr sz="2300" b="1"/>
          </a:p>
          <a:p>
            <a:pPr marL="0" lvl="0" indent="0" algn="l" rtl="0">
              <a:spcBef>
                <a:spcPts val="1000"/>
              </a:spcBef>
              <a:spcAft>
                <a:spcPts val="0"/>
              </a:spcAft>
              <a:buNone/>
            </a:pPr>
            <a:endParaRPr sz="2400" b="1"/>
          </a:p>
          <a:p>
            <a:pPr marL="0" lvl="0" indent="0" algn="l" rtl="0">
              <a:spcBef>
                <a:spcPts val="1000"/>
              </a:spcBef>
              <a:spcAft>
                <a:spcPts val="0"/>
              </a:spcAft>
              <a:buNone/>
            </a:pPr>
            <a:endParaRPr sz="2400" b="1"/>
          </a:p>
          <a:p>
            <a:pPr marL="0" lvl="0" indent="0" algn="l" rtl="0">
              <a:spcBef>
                <a:spcPts val="1000"/>
              </a:spcBef>
              <a:spcAft>
                <a:spcPts val="0"/>
              </a:spcAft>
              <a:buNone/>
            </a:pPr>
            <a:endParaRPr sz="2400" b="1"/>
          </a:p>
          <a:p>
            <a:pPr marL="0" lvl="0" indent="0" algn="l" rtl="0">
              <a:spcBef>
                <a:spcPts val="1000"/>
              </a:spcBef>
              <a:spcAft>
                <a:spcPts val="0"/>
              </a:spcAft>
              <a:buNone/>
            </a:pPr>
            <a:r>
              <a:rPr lang="en-IN" sz="2300" b="1"/>
              <a:t>Playlist Track Table:                                                     </a:t>
            </a:r>
            <a:endParaRPr sz="2300" b="1"/>
          </a:p>
          <a:p>
            <a:pPr marL="0" lvl="0" indent="0" algn="l" rtl="0">
              <a:spcBef>
                <a:spcPts val="1000"/>
              </a:spcBef>
              <a:spcAft>
                <a:spcPts val="0"/>
              </a:spcAft>
              <a:buNone/>
            </a:pPr>
            <a:r>
              <a:rPr lang="en-IN" sz="2400" b="1"/>
              <a:t>                                                                                       Invoice Table:</a:t>
            </a:r>
            <a:endParaRPr sz="2400" b="1"/>
          </a:p>
          <a:p>
            <a:pPr marL="0" lvl="0" indent="0" algn="l" rtl="0">
              <a:spcBef>
                <a:spcPts val="1000"/>
              </a:spcBef>
              <a:spcAft>
                <a:spcPts val="0"/>
              </a:spcAft>
              <a:buNone/>
            </a:pPr>
            <a:endParaRPr sz="2400" b="1"/>
          </a:p>
          <a:p>
            <a:pPr marL="0" lvl="0" indent="0" algn="l" rtl="0">
              <a:spcBef>
                <a:spcPts val="1000"/>
              </a:spcBef>
              <a:spcAft>
                <a:spcPts val="0"/>
              </a:spcAft>
              <a:buNone/>
            </a:pPr>
            <a:endParaRPr sz="2400" b="1"/>
          </a:p>
          <a:p>
            <a:pPr marL="0" lvl="0" indent="0" algn="l" rtl="0">
              <a:spcBef>
                <a:spcPts val="1000"/>
              </a:spcBef>
              <a:spcAft>
                <a:spcPts val="0"/>
              </a:spcAft>
              <a:buNone/>
            </a:pPr>
            <a:r>
              <a:rPr lang="en-IN" sz="2400" b="1"/>
              <a:t>Playlist Table:                                                                           </a:t>
            </a:r>
            <a:endParaRPr sz="2400" b="1"/>
          </a:p>
        </p:txBody>
      </p:sp>
      <p:pic>
        <p:nvPicPr>
          <p:cNvPr id="139" name="Google Shape;139;g38eb29cd6a5_0_1"/>
          <p:cNvPicPr preferRelativeResize="0"/>
          <p:nvPr/>
        </p:nvPicPr>
        <p:blipFill>
          <a:blip r:embed="rId3">
            <a:alphaModFix/>
          </a:blip>
          <a:stretch>
            <a:fillRect/>
          </a:stretch>
        </p:blipFill>
        <p:spPr>
          <a:xfrm>
            <a:off x="408750" y="1188975"/>
            <a:ext cx="5307675" cy="1420975"/>
          </a:xfrm>
          <a:prstGeom prst="rect">
            <a:avLst/>
          </a:prstGeom>
          <a:noFill/>
          <a:ln>
            <a:noFill/>
          </a:ln>
        </p:spPr>
      </p:pic>
      <p:pic>
        <p:nvPicPr>
          <p:cNvPr id="140" name="Google Shape;140;g38eb29cd6a5_0_1"/>
          <p:cNvPicPr preferRelativeResize="0"/>
          <p:nvPr/>
        </p:nvPicPr>
        <p:blipFill>
          <a:blip r:embed="rId4">
            <a:alphaModFix/>
          </a:blip>
          <a:stretch>
            <a:fillRect/>
          </a:stretch>
        </p:blipFill>
        <p:spPr>
          <a:xfrm>
            <a:off x="408750" y="3115525"/>
            <a:ext cx="5307675" cy="1061200"/>
          </a:xfrm>
          <a:prstGeom prst="rect">
            <a:avLst/>
          </a:prstGeom>
          <a:noFill/>
          <a:ln>
            <a:noFill/>
          </a:ln>
        </p:spPr>
      </p:pic>
      <p:pic>
        <p:nvPicPr>
          <p:cNvPr id="141" name="Google Shape;141;g38eb29cd6a5_0_1"/>
          <p:cNvPicPr preferRelativeResize="0"/>
          <p:nvPr/>
        </p:nvPicPr>
        <p:blipFill>
          <a:blip r:embed="rId4">
            <a:alphaModFix/>
          </a:blip>
          <a:stretch>
            <a:fillRect/>
          </a:stretch>
        </p:blipFill>
        <p:spPr>
          <a:xfrm>
            <a:off x="408750" y="4831700"/>
            <a:ext cx="5192100" cy="1271425"/>
          </a:xfrm>
          <a:prstGeom prst="rect">
            <a:avLst/>
          </a:prstGeom>
          <a:noFill/>
          <a:ln>
            <a:noFill/>
          </a:ln>
        </p:spPr>
      </p:pic>
      <p:pic>
        <p:nvPicPr>
          <p:cNvPr id="142" name="Google Shape;142;g38eb29cd6a5_0_1"/>
          <p:cNvPicPr preferRelativeResize="0"/>
          <p:nvPr/>
        </p:nvPicPr>
        <p:blipFill>
          <a:blip r:embed="rId5">
            <a:alphaModFix/>
          </a:blip>
          <a:stretch>
            <a:fillRect/>
          </a:stretch>
        </p:blipFill>
        <p:spPr>
          <a:xfrm>
            <a:off x="6444675" y="1252875"/>
            <a:ext cx="5307675" cy="1498675"/>
          </a:xfrm>
          <a:prstGeom prst="rect">
            <a:avLst/>
          </a:prstGeom>
          <a:noFill/>
          <a:ln>
            <a:noFill/>
          </a:ln>
        </p:spPr>
      </p:pic>
      <p:pic>
        <p:nvPicPr>
          <p:cNvPr id="143" name="Google Shape;143;g38eb29cd6a5_0_1"/>
          <p:cNvPicPr preferRelativeResize="0"/>
          <p:nvPr/>
        </p:nvPicPr>
        <p:blipFill>
          <a:blip r:embed="rId6">
            <a:alphaModFix/>
          </a:blip>
          <a:stretch>
            <a:fillRect/>
          </a:stretch>
        </p:blipFill>
        <p:spPr>
          <a:xfrm>
            <a:off x="6444675" y="3508907"/>
            <a:ext cx="5564675" cy="2671275"/>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g38ea9ba97dd_0_26"/>
          <p:cNvSpPr txBox="1">
            <a:spLocks noGrp="1"/>
          </p:cNvSpPr>
          <p:nvPr>
            <p:ph type="title"/>
          </p:nvPr>
        </p:nvSpPr>
        <p:spPr>
          <a:xfrm>
            <a:off x="838200" y="105600"/>
            <a:ext cx="10515600" cy="6294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IN" sz="4000"/>
              <a:t>                                      </a:t>
            </a:r>
            <a:r>
              <a:rPr lang="en-IN" sz="4000" b="1"/>
              <a:t>ER DIAGRAM</a:t>
            </a:r>
            <a:endParaRPr sz="3900" b="1"/>
          </a:p>
        </p:txBody>
      </p:sp>
      <p:sp>
        <p:nvSpPr>
          <p:cNvPr id="150" name="Google Shape;150;g38ea9ba97dd_0_26"/>
          <p:cNvSpPr txBox="1">
            <a:spLocks noGrp="1"/>
          </p:cNvSpPr>
          <p:nvPr>
            <p:ph type="body" idx="1"/>
          </p:nvPr>
        </p:nvSpPr>
        <p:spPr>
          <a:xfrm>
            <a:off x="838200" y="1004475"/>
            <a:ext cx="10515600" cy="51723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004474"/>
            <a:ext cx="10515600" cy="517230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38eb29cd6a5_0_19"/>
          <p:cNvSpPr txBox="1">
            <a:spLocks noGrp="1"/>
          </p:cNvSpPr>
          <p:nvPr>
            <p:ph type="title"/>
          </p:nvPr>
        </p:nvSpPr>
        <p:spPr>
          <a:xfrm>
            <a:off x="838200" y="79900"/>
            <a:ext cx="10515600" cy="5652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IN" b="1" dirty="0"/>
              <a:t>Problem Statement:</a:t>
            </a:r>
            <a:endParaRPr b="1" dirty="0"/>
          </a:p>
        </p:txBody>
      </p:sp>
      <p:sp>
        <p:nvSpPr>
          <p:cNvPr id="158" name="Google Shape;158;g38eb29cd6a5_0_19"/>
          <p:cNvSpPr txBox="1">
            <a:spLocks noGrp="1"/>
          </p:cNvSpPr>
          <p:nvPr>
            <p:ph type="body" idx="1"/>
          </p:nvPr>
        </p:nvSpPr>
        <p:spPr>
          <a:xfrm>
            <a:off x="838200" y="747725"/>
            <a:ext cx="10515600" cy="5214300"/>
          </a:xfrm>
          <a:prstGeom prst="rect">
            <a:avLst/>
          </a:prstGeom>
        </p:spPr>
        <p:txBody>
          <a:bodyPr spcFirstLastPara="1" wrap="square" lIns="91425" tIns="45700" rIns="91425" bIns="45700" anchor="t" anchorCtr="0">
            <a:normAutofit fontScale="92500" lnSpcReduction="10000"/>
          </a:bodyPr>
          <a:lstStyle/>
          <a:p>
            <a:pPr marL="0" lvl="0" indent="0" algn="l" rtl="0">
              <a:lnSpc>
                <a:spcPct val="115000"/>
              </a:lnSpc>
              <a:spcBef>
                <a:spcPts val="1200"/>
              </a:spcBef>
              <a:spcAft>
                <a:spcPts val="0"/>
              </a:spcAft>
              <a:buClr>
                <a:schemeClr val="dk1"/>
              </a:buClr>
              <a:buSzPct val="43716"/>
              <a:buFont typeface="Arial"/>
              <a:buNone/>
            </a:pPr>
            <a:r>
              <a:rPr lang="en-IN" sz="2516" dirty="0">
                <a:solidFill>
                  <a:schemeClr val="tx1">
                    <a:lumMod val="95000"/>
                    <a:lumOff val="5000"/>
                  </a:schemeClr>
                </a:solidFill>
              </a:rPr>
              <a:t>In today’s digital world, music stores collect a large amount of data about their customers, employees, artists, albums, tracks, invoices, and playlists. However, without proper organization, this data becomes difficult to </a:t>
            </a:r>
            <a:r>
              <a:rPr lang="en-IN" sz="2516" dirty="0" err="1">
                <a:solidFill>
                  <a:schemeClr val="tx1">
                    <a:lumMod val="95000"/>
                    <a:lumOff val="5000"/>
                  </a:schemeClr>
                </a:solidFill>
              </a:rPr>
              <a:t>analyze</a:t>
            </a:r>
            <a:r>
              <a:rPr lang="en-IN" sz="2516" dirty="0">
                <a:solidFill>
                  <a:schemeClr val="tx1">
                    <a:lumMod val="95000"/>
                    <a:lumOff val="5000"/>
                  </a:schemeClr>
                </a:solidFill>
              </a:rPr>
              <a:t> and use for decision-making. The challenge is to design a relational database that not only stores this information efficiently but also allows us to answer real-world business questions.</a:t>
            </a:r>
            <a:endParaRPr sz="2516" dirty="0">
              <a:solidFill>
                <a:schemeClr val="tx1">
                  <a:lumMod val="95000"/>
                  <a:lumOff val="5000"/>
                </a:schemeClr>
              </a:solidFill>
            </a:endParaRPr>
          </a:p>
          <a:p>
            <a:pPr marL="0" lvl="0" indent="0" algn="l" rtl="0">
              <a:lnSpc>
                <a:spcPct val="115000"/>
              </a:lnSpc>
              <a:spcBef>
                <a:spcPts val="1200"/>
              </a:spcBef>
              <a:spcAft>
                <a:spcPts val="0"/>
              </a:spcAft>
              <a:buNone/>
            </a:pPr>
            <a:r>
              <a:rPr lang="en-IN" sz="2300" dirty="0">
                <a:solidFill>
                  <a:schemeClr val="tx1">
                    <a:lumMod val="95000"/>
                    <a:lumOff val="5000"/>
                  </a:schemeClr>
                </a:solidFill>
              </a:rPr>
              <a:t>Think about how </a:t>
            </a:r>
            <a:r>
              <a:rPr lang="en-IN" sz="2300" b="1" dirty="0">
                <a:solidFill>
                  <a:schemeClr val="tx1">
                    <a:lumMod val="95000"/>
                    <a:lumOff val="5000"/>
                  </a:schemeClr>
                </a:solidFill>
              </a:rPr>
              <a:t>Spotify </a:t>
            </a:r>
            <a:r>
              <a:rPr lang="en-IN" sz="2300" dirty="0">
                <a:solidFill>
                  <a:schemeClr val="tx1">
                    <a:lumMod val="95000"/>
                    <a:lumOff val="5000"/>
                  </a:schemeClr>
                </a:solidFill>
              </a:rPr>
              <a:t>creates your </a:t>
            </a:r>
            <a:r>
              <a:rPr lang="en-IN" sz="2300" b="1" dirty="0">
                <a:solidFill>
                  <a:schemeClr val="tx1">
                    <a:lumMod val="95000"/>
                    <a:lumOff val="5000"/>
                  </a:schemeClr>
                </a:solidFill>
              </a:rPr>
              <a:t>“Daily Mix”</a:t>
            </a:r>
            <a:r>
              <a:rPr lang="en-IN" sz="2300" dirty="0">
                <a:solidFill>
                  <a:schemeClr val="tx1">
                    <a:lumMod val="95000"/>
                    <a:lumOff val="5000"/>
                  </a:schemeClr>
                </a:solidFill>
              </a:rPr>
              <a:t> playlist.</a:t>
            </a:r>
            <a:endParaRPr sz="2300" dirty="0">
              <a:solidFill>
                <a:schemeClr val="tx1">
                  <a:lumMod val="95000"/>
                  <a:lumOff val="5000"/>
                </a:schemeClr>
              </a:solidFill>
            </a:endParaRPr>
          </a:p>
          <a:p>
            <a:pPr marL="0" lvl="0" indent="0" algn="l" rtl="0">
              <a:lnSpc>
                <a:spcPct val="115000"/>
              </a:lnSpc>
              <a:spcBef>
                <a:spcPts val="1200"/>
              </a:spcBef>
              <a:spcAft>
                <a:spcPts val="0"/>
              </a:spcAft>
              <a:buNone/>
            </a:pPr>
            <a:r>
              <a:rPr lang="en-IN" sz="2300" b="1" dirty="0">
                <a:solidFill>
                  <a:schemeClr val="tx1">
                    <a:lumMod val="95000"/>
                    <a:lumOff val="5000"/>
                  </a:schemeClr>
                </a:solidFill>
              </a:rPr>
              <a:t>“Databases are the DJs behind your </a:t>
            </a:r>
            <a:r>
              <a:rPr lang="en-IN" sz="2300" b="1" dirty="0" err="1">
                <a:solidFill>
                  <a:schemeClr val="tx1">
                    <a:lumMod val="95000"/>
                    <a:lumOff val="5000"/>
                  </a:schemeClr>
                </a:solidFill>
              </a:rPr>
              <a:t>favorite</a:t>
            </a:r>
            <a:r>
              <a:rPr lang="en-IN" sz="2300" b="1" dirty="0">
                <a:solidFill>
                  <a:schemeClr val="tx1">
                    <a:lumMod val="95000"/>
                    <a:lumOff val="5000"/>
                  </a:schemeClr>
                </a:solidFill>
              </a:rPr>
              <a:t> playlists.”</a:t>
            </a:r>
            <a:endParaRPr sz="2300" b="1" dirty="0">
              <a:solidFill>
                <a:schemeClr val="tx1">
                  <a:lumMod val="95000"/>
                  <a:lumOff val="5000"/>
                </a:schemeClr>
              </a:solidFill>
            </a:endParaRPr>
          </a:p>
          <a:p>
            <a:pPr marL="0" lvl="0" indent="0" algn="l" rtl="0">
              <a:lnSpc>
                <a:spcPct val="115000"/>
              </a:lnSpc>
              <a:spcBef>
                <a:spcPts val="1200"/>
              </a:spcBef>
              <a:spcAft>
                <a:spcPts val="0"/>
              </a:spcAft>
              <a:buNone/>
            </a:pPr>
            <a:r>
              <a:rPr lang="en-IN" sz="2300" b="1" dirty="0">
                <a:solidFill>
                  <a:schemeClr val="tx1">
                    <a:lumMod val="95000"/>
                    <a:lumOff val="5000"/>
                  </a:schemeClr>
                </a:solidFill>
              </a:rPr>
              <a:t>“Databases are like Spotify’s memory—without them, it would forget your </a:t>
            </a:r>
            <a:r>
              <a:rPr lang="en-IN" sz="2300" b="1" dirty="0" err="1">
                <a:solidFill>
                  <a:schemeClr val="tx1">
                    <a:lumMod val="95000"/>
                    <a:lumOff val="5000"/>
                  </a:schemeClr>
                </a:solidFill>
              </a:rPr>
              <a:t>favorite</a:t>
            </a:r>
            <a:r>
              <a:rPr lang="en-IN" sz="2300" b="1" dirty="0">
                <a:solidFill>
                  <a:schemeClr val="tx1">
                    <a:lumMod val="95000"/>
                    <a:lumOff val="5000"/>
                  </a:schemeClr>
                </a:solidFill>
              </a:rPr>
              <a:t> song every day!”</a:t>
            </a:r>
            <a:endParaRPr sz="2300" b="1" dirty="0">
              <a:solidFill>
                <a:schemeClr val="tx1">
                  <a:lumMod val="95000"/>
                  <a:lumOff val="5000"/>
                </a:schemeClr>
              </a:solidFill>
            </a:endParaRPr>
          </a:p>
          <a:p>
            <a:pPr marL="0" lvl="0" indent="0" algn="l" rtl="0">
              <a:lnSpc>
                <a:spcPct val="115000"/>
              </a:lnSpc>
              <a:spcBef>
                <a:spcPts val="1200"/>
              </a:spcBef>
              <a:spcAft>
                <a:spcPts val="0"/>
              </a:spcAft>
              <a:buNone/>
            </a:pPr>
            <a:r>
              <a:rPr lang="en-IN" sz="2516" dirty="0">
                <a:solidFill>
                  <a:schemeClr val="tx1">
                    <a:lumMod val="95000"/>
                    <a:lumOff val="5000"/>
                  </a:schemeClr>
                </a:solidFill>
              </a:rPr>
              <a:t>In the same way, a structured music store database can help businesses identify their best customers, manage invoices efficiently, and uncover which music genres drive the most sales.</a:t>
            </a:r>
            <a:endParaRPr sz="2516" dirty="0">
              <a:solidFill>
                <a:schemeClr val="tx1">
                  <a:lumMod val="95000"/>
                  <a:lumOff val="5000"/>
                </a:schemeClr>
              </a:solidFill>
            </a:endParaRPr>
          </a:p>
          <a:p>
            <a:pPr marL="0" lvl="0" indent="0" algn="l" rtl="0">
              <a:lnSpc>
                <a:spcPct val="115000"/>
              </a:lnSpc>
              <a:spcBef>
                <a:spcPts val="1200"/>
              </a:spcBef>
              <a:spcAft>
                <a:spcPts val="0"/>
              </a:spcAft>
              <a:buClr>
                <a:schemeClr val="dk1"/>
              </a:buClr>
              <a:buSzPct val="47826"/>
              <a:buFont typeface="Arial"/>
              <a:buNone/>
            </a:pPr>
            <a:endParaRPr sz="2300" b="1" dirty="0">
              <a:solidFill>
                <a:schemeClr val="tx1">
                  <a:lumMod val="95000"/>
                  <a:lumOff val="5000"/>
                </a:schemeClr>
              </a:solidFill>
            </a:endParaRPr>
          </a:p>
          <a:p>
            <a:pPr marL="0" lvl="0" indent="0" algn="l" rtl="0">
              <a:spcBef>
                <a:spcPts val="1200"/>
              </a:spcBef>
              <a:spcAft>
                <a:spcPts val="0"/>
              </a:spcAft>
              <a:buNone/>
            </a:pPr>
            <a:endParaRPr dirty="0">
              <a:solidFill>
                <a:schemeClr val="tx1">
                  <a:lumMod val="95000"/>
                  <a:lumOff val="5000"/>
                </a:schemeClr>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8eb29cd6a5_0_29"/>
          <p:cNvSpPr txBox="1">
            <a:spLocks noGrp="1"/>
          </p:cNvSpPr>
          <p:nvPr>
            <p:ph type="title"/>
          </p:nvPr>
        </p:nvSpPr>
        <p:spPr>
          <a:xfrm>
            <a:off x="838200" y="365125"/>
            <a:ext cx="10515600" cy="657900"/>
          </a:xfrm>
          <a:prstGeom prst="rect">
            <a:avLst/>
          </a:prstGeom>
        </p:spPr>
        <p:txBody>
          <a:bodyPr spcFirstLastPara="1" wrap="square" lIns="91425" tIns="45700" rIns="91425" bIns="45700" anchor="ctr" anchorCtr="0">
            <a:normAutofit/>
          </a:bodyPr>
          <a:lstStyle/>
          <a:p>
            <a:pPr marL="457200" lvl="0" indent="0" algn="l" rtl="0">
              <a:spcBef>
                <a:spcPts val="0"/>
              </a:spcBef>
              <a:spcAft>
                <a:spcPts val="0"/>
              </a:spcAft>
              <a:buNone/>
            </a:pPr>
            <a:r>
              <a:rPr lang="en-IN" sz="3144" b="1"/>
              <a:t>1. Who is the senior most employee based on job title?</a:t>
            </a:r>
            <a:r>
              <a:rPr lang="en-IN" sz="1988"/>
              <a:t> </a:t>
            </a:r>
            <a:endParaRPr sz="5288"/>
          </a:p>
        </p:txBody>
      </p:sp>
      <p:sp>
        <p:nvSpPr>
          <p:cNvPr id="165" name="Google Shape;165;g38eb29cd6a5_0_29"/>
          <p:cNvSpPr txBox="1">
            <a:spLocks noGrp="1"/>
          </p:cNvSpPr>
          <p:nvPr>
            <p:ph type="body" idx="1"/>
          </p:nvPr>
        </p:nvSpPr>
        <p:spPr>
          <a:xfrm>
            <a:off x="838200" y="1075275"/>
            <a:ext cx="10515600" cy="5101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b="1"/>
              <a:t>Query:</a:t>
            </a:r>
            <a:endParaRPr b="1"/>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b="1"/>
          </a:p>
          <a:p>
            <a:pPr marL="0" lvl="0" indent="0" algn="l" rtl="0">
              <a:spcBef>
                <a:spcPts val="1000"/>
              </a:spcBef>
              <a:spcAft>
                <a:spcPts val="0"/>
              </a:spcAft>
              <a:buNone/>
            </a:pPr>
            <a:r>
              <a:rPr lang="en-IN" b="1"/>
              <a:t>Output:</a:t>
            </a:r>
            <a:endParaRPr b="1"/>
          </a:p>
        </p:txBody>
      </p:sp>
      <p:pic>
        <p:nvPicPr>
          <p:cNvPr id="166" name="Google Shape;166;g38eb29cd6a5_0_29"/>
          <p:cNvPicPr preferRelativeResize="0"/>
          <p:nvPr/>
        </p:nvPicPr>
        <p:blipFill>
          <a:blip r:embed="rId3">
            <a:alphaModFix/>
          </a:blip>
          <a:stretch>
            <a:fillRect/>
          </a:stretch>
        </p:blipFill>
        <p:spPr>
          <a:xfrm>
            <a:off x="2475050" y="1278475"/>
            <a:ext cx="4595800" cy="2759600"/>
          </a:xfrm>
          <a:prstGeom prst="rect">
            <a:avLst/>
          </a:prstGeom>
          <a:noFill/>
          <a:ln>
            <a:noFill/>
          </a:ln>
        </p:spPr>
      </p:pic>
      <p:pic>
        <p:nvPicPr>
          <p:cNvPr id="167" name="Google Shape;167;g38eb29cd6a5_0_29" title="WhatsApp Image 2025-10-03 at 8.23.50 PM.jpeg"/>
          <p:cNvPicPr preferRelativeResize="0"/>
          <p:nvPr/>
        </p:nvPicPr>
        <p:blipFill>
          <a:blip r:embed="rId4">
            <a:alphaModFix/>
          </a:blip>
          <a:stretch>
            <a:fillRect/>
          </a:stretch>
        </p:blipFill>
        <p:spPr>
          <a:xfrm>
            <a:off x="2552700" y="4656675"/>
            <a:ext cx="4440525" cy="1168400"/>
          </a:xfrm>
          <a:prstGeom prst="rect">
            <a:avLst/>
          </a:prstGeom>
          <a:noFill/>
          <a:ln>
            <a:noFill/>
          </a:ln>
        </p:spPr>
      </p:pic>
      <p:pic>
        <p:nvPicPr>
          <p:cNvPr id="168" name="Google Shape;168;g38eb29cd6a5_0_29"/>
          <p:cNvPicPr preferRelativeResize="0"/>
          <p:nvPr/>
        </p:nvPicPr>
        <p:blipFill>
          <a:blip r:embed="rId5">
            <a:alphaModFix/>
          </a:blip>
          <a:stretch>
            <a:fillRect/>
          </a:stretch>
        </p:blipFill>
        <p:spPr>
          <a:xfrm>
            <a:off x="7488525" y="1075275"/>
            <a:ext cx="3355850" cy="3987800"/>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g38eb29cd6a5_0_41"/>
          <p:cNvSpPr txBox="1">
            <a:spLocks noGrp="1"/>
          </p:cNvSpPr>
          <p:nvPr>
            <p:ph type="title"/>
          </p:nvPr>
        </p:nvSpPr>
        <p:spPr>
          <a:xfrm>
            <a:off x="838200" y="135475"/>
            <a:ext cx="10515600" cy="660300"/>
          </a:xfrm>
          <a:prstGeom prst="rect">
            <a:avLst/>
          </a:prstGeom>
        </p:spPr>
        <p:txBody>
          <a:bodyPr spcFirstLastPara="1" wrap="square" lIns="91425" tIns="45700" rIns="91425" bIns="45700" anchor="ctr" anchorCtr="0">
            <a:normAutofit fontScale="90000"/>
          </a:bodyPr>
          <a:lstStyle/>
          <a:p>
            <a:pPr marL="0" lvl="0" indent="0" algn="l" rtl="0">
              <a:spcBef>
                <a:spcPts val="0"/>
              </a:spcBef>
              <a:spcAft>
                <a:spcPts val="0"/>
              </a:spcAft>
              <a:buNone/>
            </a:pPr>
            <a:r>
              <a:rPr lang="en-IN"/>
              <a:t>               </a:t>
            </a:r>
            <a:r>
              <a:rPr lang="en-IN" sz="3100" b="1"/>
              <a:t>2. Which countries have the most Invoices?</a:t>
            </a:r>
            <a:endParaRPr sz="6400" b="1"/>
          </a:p>
        </p:txBody>
      </p:sp>
      <p:sp>
        <p:nvSpPr>
          <p:cNvPr id="175" name="Google Shape;175;g38eb29cd6a5_0_41"/>
          <p:cNvSpPr txBox="1">
            <a:spLocks noGrp="1"/>
          </p:cNvSpPr>
          <p:nvPr>
            <p:ph type="body" idx="1"/>
          </p:nvPr>
        </p:nvSpPr>
        <p:spPr>
          <a:xfrm>
            <a:off x="838200" y="859375"/>
            <a:ext cx="10515600" cy="5317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2700" b="1" dirty="0"/>
              <a:t>Query</a:t>
            </a:r>
            <a:r>
              <a:rPr lang="en-IN" sz="2700" b="1" dirty="0" smtClean="0"/>
              <a:t>:</a:t>
            </a:r>
            <a:endParaRPr sz="2700" b="1" dirty="0"/>
          </a:p>
          <a:p>
            <a:pPr marL="0" lvl="0" indent="0" algn="l" rtl="0">
              <a:spcBef>
                <a:spcPts val="1000"/>
              </a:spcBef>
              <a:spcAft>
                <a:spcPts val="0"/>
              </a:spcAft>
              <a:buNone/>
            </a:pPr>
            <a:endParaRPr sz="2700" b="1" dirty="0"/>
          </a:p>
          <a:p>
            <a:pPr marL="0" lvl="0" indent="0" algn="l" rtl="0">
              <a:spcBef>
                <a:spcPts val="1000"/>
              </a:spcBef>
              <a:spcAft>
                <a:spcPts val="0"/>
              </a:spcAft>
              <a:buNone/>
            </a:pPr>
            <a:endParaRPr sz="2700" b="1" dirty="0"/>
          </a:p>
          <a:p>
            <a:pPr marL="0" lvl="0" indent="0" algn="l" rtl="0">
              <a:spcBef>
                <a:spcPts val="1000"/>
              </a:spcBef>
              <a:spcAft>
                <a:spcPts val="0"/>
              </a:spcAft>
              <a:buNone/>
            </a:pPr>
            <a:endParaRPr sz="2700" b="1" dirty="0"/>
          </a:p>
          <a:p>
            <a:pPr marL="0" lvl="0" indent="0" algn="l" rtl="0">
              <a:spcBef>
                <a:spcPts val="1000"/>
              </a:spcBef>
              <a:spcAft>
                <a:spcPts val="0"/>
              </a:spcAft>
              <a:buNone/>
            </a:pPr>
            <a:endParaRPr sz="2700" b="1" dirty="0"/>
          </a:p>
          <a:p>
            <a:pPr marL="0" lvl="0" indent="0" algn="l" rtl="0">
              <a:spcBef>
                <a:spcPts val="1000"/>
              </a:spcBef>
              <a:spcAft>
                <a:spcPts val="0"/>
              </a:spcAft>
              <a:buNone/>
            </a:pPr>
            <a:endParaRPr sz="2700" b="1" dirty="0"/>
          </a:p>
          <a:p>
            <a:pPr marL="0" lvl="0" indent="0" algn="l" rtl="0">
              <a:spcBef>
                <a:spcPts val="1000"/>
              </a:spcBef>
              <a:spcAft>
                <a:spcPts val="0"/>
              </a:spcAft>
              <a:buNone/>
            </a:pPr>
            <a:endParaRPr sz="2700" b="1" dirty="0"/>
          </a:p>
          <a:p>
            <a:pPr marL="0" lvl="0" indent="0" algn="l" rtl="0">
              <a:spcBef>
                <a:spcPts val="1000"/>
              </a:spcBef>
              <a:spcAft>
                <a:spcPts val="0"/>
              </a:spcAft>
              <a:buNone/>
            </a:pPr>
            <a:r>
              <a:rPr lang="en-IN" sz="2700" b="1" dirty="0"/>
              <a:t>Output:</a:t>
            </a:r>
            <a:endParaRPr sz="2700" b="1" dirty="0"/>
          </a:p>
        </p:txBody>
      </p:sp>
      <p:pic>
        <p:nvPicPr>
          <p:cNvPr id="176" name="Google Shape;176;g38eb29cd6a5_0_41" title="WhatsApp Image 2025-10-03 at 8.28.00 PM.jpeg"/>
          <p:cNvPicPr preferRelativeResize="0"/>
          <p:nvPr/>
        </p:nvPicPr>
        <p:blipFill>
          <a:blip r:embed="rId3">
            <a:alphaModFix/>
          </a:blip>
          <a:stretch>
            <a:fillRect/>
          </a:stretch>
        </p:blipFill>
        <p:spPr>
          <a:xfrm>
            <a:off x="1679225" y="1507075"/>
            <a:ext cx="7162800" cy="2711400"/>
          </a:xfrm>
          <a:prstGeom prst="rect">
            <a:avLst/>
          </a:prstGeom>
          <a:noFill/>
          <a:ln>
            <a:noFill/>
          </a:ln>
        </p:spPr>
      </p:pic>
      <p:pic>
        <p:nvPicPr>
          <p:cNvPr id="177" name="Google Shape;177;g38eb29cd6a5_0_41" title="WhatsApp Image 2025-10-03 at 8.36.31 PM.jpeg"/>
          <p:cNvPicPr preferRelativeResize="0"/>
          <p:nvPr/>
        </p:nvPicPr>
        <p:blipFill>
          <a:blip r:embed="rId4">
            <a:alphaModFix/>
          </a:blip>
          <a:stretch>
            <a:fillRect/>
          </a:stretch>
        </p:blipFill>
        <p:spPr>
          <a:xfrm>
            <a:off x="2731750" y="4720175"/>
            <a:ext cx="5246675" cy="1181100"/>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g38eb29cd6a5_0_49"/>
          <p:cNvSpPr txBox="1">
            <a:spLocks noGrp="1"/>
          </p:cNvSpPr>
          <p:nvPr>
            <p:ph type="title"/>
          </p:nvPr>
        </p:nvSpPr>
        <p:spPr>
          <a:xfrm>
            <a:off x="838200" y="135475"/>
            <a:ext cx="10515600" cy="7746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IN"/>
              <a:t>         </a:t>
            </a:r>
            <a:r>
              <a:rPr lang="en-IN" sz="3100" b="1"/>
              <a:t>3. What are the top 3 values of total invoice?</a:t>
            </a:r>
            <a:endParaRPr sz="6400" b="1"/>
          </a:p>
        </p:txBody>
      </p:sp>
      <p:sp>
        <p:nvSpPr>
          <p:cNvPr id="184" name="Google Shape;184;g38eb29cd6a5_0_49"/>
          <p:cNvSpPr txBox="1">
            <a:spLocks noGrp="1"/>
          </p:cNvSpPr>
          <p:nvPr>
            <p:ph type="body" idx="1"/>
          </p:nvPr>
        </p:nvSpPr>
        <p:spPr>
          <a:xfrm>
            <a:off x="838200" y="833975"/>
            <a:ext cx="10515600" cy="48537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None/>
            </a:pPr>
            <a:r>
              <a:rPr lang="en-IN" b="1" dirty="0"/>
              <a:t>Query:</a:t>
            </a:r>
            <a:endParaRPr b="1" dirty="0"/>
          </a:p>
          <a:p>
            <a:pPr marL="0" lvl="0" indent="0" algn="l" rtl="0">
              <a:lnSpc>
                <a:spcPct val="115000"/>
              </a:lnSpc>
              <a:spcBef>
                <a:spcPts val="0"/>
              </a:spcBef>
              <a:spcAft>
                <a:spcPts val="0"/>
              </a:spcAft>
              <a:buNone/>
            </a:pPr>
            <a:endParaRPr b="1" dirty="0"/>
          </a:p>
          <a:p>
            <a:pPr marL="0" lvl="0" indent="0" algn="l" rtl="0">
              <a:lnSpc>
                <a:spcPct val="115000"/>
              </a:lnSpc>
              <a:spcBef>
                <a:spcPts val="0"/>
              </a:spcBef>
              <a:spcAft>
                <a:spcPts val="0"/>
              </a:spcAft>
              <a:buNone/>
            </a:pPr>
            <a:endParaRPr b="1" dirty="0"/>
          </a:p>
          <a:p>
            <a:pPr marL="0" lvl="0" indent="0" algn="l" rtl="0">
              <a:lnSpc>
                <a:spcPct val="115000"/>
              </a:lnSpc>
              <a:spcBef>
                <a:spcPts val="0"/>
              </a:spcBef>
              <a:spcAft>
                <a:spcPts val="0"/>
              </a:spcAft>
              <a:buNone/>
            </a:pPr>
            <a:endParaRPr b="1" dirty="0"/>
          </a:p>
          <a:p>
            <a:pPr marL="0" lvl="0" indent="0" algn="l" rtl="0">
              <a:lnSpc>
                <a:spcPct val="115000"/>
              </a:lnSpc>
              <a:spcBef>
                <a:spcPts val="0"/>
              </a:spcBef>
              <a:spcAft>
                <a:spcPts val="0"/>
              </a:spcAft>
              <a:buNone/>
            </a:pPr>
            <a:endParaRPr b="1" dirty="0"/>
          </a:p>
          <a:p>
            <a:pPr marL="0" lvl="0" indent="0" algn="l" rtl="0">
              <a:lnSpc>
                <a:spcPct val="115000"/>
              </a:lnSpc>
              <a:spcBef>
                <a:spcPts val="0"/>
              </a:spcBef>
              <a:spcAft>
                <a:spcPts val="0"/>
              </a:spcAft>
              <a:buNone/>
            </a:pPr>
            <a:endParaRPr b="1" dirty="0"/>
          </a:p>
          <a:p>
            <a:pPr marL="0" lvl="0" indent="0" algn="l" rtl="0">
              <a:lnSpc>
                <a:spcPct val="115000"/>
              </a:lnSpc>
              <a:spcBef>
                <a:spcPts val="0"/>
              </a:spcBef>
              <a:spcAft>
                <a:spcPts val="0"/>
              </a:spcAft>
              <a:buClr>
                <a:schemeClr val="dk1"/>
              </a:buClr>
              <a:buSzPts val="1100"/>
              <a:buFont typeface="Arial"/>
              <a:buNone/>
            </a:pPr>
            <a:r>
              <a:rPr lang="en-IN" b="1" dirty="0" smtClean="0"/>
              <a:t>                                                                        Output</a:t>
            </a:r>
            <a:r>
              <a:rPr lang="en-IN" b="1" dirty="0"/>
              <a:t>:</a:t>
            </a:r>
            <a:endParaRPr b="1" dirty="0"/>
          </a:p>
        </p:txBody>
      </p:sp>
      <p:pic>
        <p:nvPicPr>
          <p:cNvPr id="185" name="Google Shape;185;g38eb29cd6a5_0_49" title="WhatsApp Image 2025-10-03 at 8.38.56 PM.jpeg"/>
          <p:cNvPicPr preferRelativeResize="0"/>
          <p:nvPr/>
        </p:nvPicPr>
        <p:blipFill>
          <a:blip r:embed="rId3">
            <a:alphaModFix/>
          </a:blip>
          <a:stretch>
            <a:fillRect/>
          </a:stretch>
        </p:blipFill>
        <p:spPr>
          <a:xfrm>
            <a:off x="1476025" y="1489718"/>
            <a:ext cx="5384800" cy="2380650"/>
          </a:xfrm>
          <a:prstGeom prst="rect">
            <a:avLst/>
          </a:prstGeom>
          <a:noFill/>
          <a:ln>
            <a:noFill/>
          </a:ln>
        </p:spPr>
      </p:pic>
      <p:pic>
        <p:nvPicPr>
          <p:cNvPr id="186" name="Google Shape;186;g38eb29cd6a5_0_49" title="WhatsApp Image 2025-10-03 at 8.41.31 PM.jpeg"/>
          <p:cNvPicPr preferRelativeResize="0"/>
          <p:nvPr/>
        </p:nvPicPr>
        <p:blipFill>
          <a:blip r:embed="rId4">
            <a:alphaModFix/>
          </a:blip>
          <a:stretch>
            <a:fillRect/>
          </a:stretch>
        </p:blipFill>
        <p:spPr>
          <a:xfrm>
            <a:off x="7144844" y="4450011"/>
            <a:ext cx="4622800" cy="1424316"/>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g38eb29cd6a5_0_57"/>
          <p:cNvSpPr txBox="1">
            <a:spLocks noGrp="1"/>
          </p:cNvSpPr>
          <p:nvPr>
            <p:ph type="title"/>
          </p:nvPr>
        </p:nvSpPr>
        <p:spPr>
          <a:xfrm>
            <a:off x="838200" y="142525"/>
            <a:ext cx="10515600" cy="1244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SzPts val="990"/>
              <a:buNone/>
            </a:pPr>
            <a:r>
              <a:rPr lang="en-IN" sz="2390" b="1"/>
              <a:t>4. Which city has the best customers? - We would like to throw a promotional Music Festival in the city we made the most money. Write a query that returns one city that has the highest sum of invoice totals. Return both the city name &amp; sum of all invoice totals</a:t>
            </a:r>
            <a:endParaRPr sz="5360" b="1"/>
          </a:p>
        </p:txBody>
      </p:sp>
      <p:sp>
        <p:nvSpPr>
          <p:cNvPr id="193" name="Google Shape;193;g38eb29cd6a5_0_57"/>
          <p:cNvSpPr txBox="1">
            <a:spLocks noGrp="1"/>
          </p:cNvSpPr>
          <p:nvPr>
            <p:ph type="body" idx="1"/>
          </p:nvPr>
        </p:nvSpPr>
        <p:spPr>
          <a:xfrm>
            <a:off x="838200" y="1768125"/>
            <a:ext cx="11001000" cy="4408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b="1"/>
              <a:t>Query:</a:t>
            </a:r>
            <a:endParaRPr b="1"/>
          </a:p>
          <a:p>
            <a:pPr marL="0" lvl="0" indent="0" algn="l" rtl="0">
              <a:spcBef>
                <a:spcPts val="1000"/>
              </a:spcBef>
              <a:spcAft>
                <a:spcPts val="0"/>
              </a:spcAft>
              <a:buNone/>
            </a:pPr>
            <a:endParaRPr b="1"/>
          </a:p>
          <a:p>
            <a:pPr marL="0" lvl="0" indent="0" algn="l" rtl="0">
              <a:spcBef>
                <a:spcPts val="1000"/>
              </a:spcBef>
              <a:spcAft>
                <a:spcPts val="0"/>
              </a:spcAft>
              <a:buNone/>
            </a:pPr>
            <a:endParaRPr b="1"/>
          </a:p>
          <a:p>
            <a:pPr marL="0" lvl="0" indent="0" algn="l" rtl="0">
              <a:spcBef>
                <a:spcPts val="1000"/>
              </a:spcBef>
              <a:spcAft>
                <a:spcPts val="0"/>
              </a:spcAft>
              <a:buNone/>
            </a:pPr>
            <a:r>
              <a:rPr lang="en-IN" b="1"/>
              <a:t>                                                                           Output:</a:t>
            </a:r>
            <a:endParaRPr b="1"/>
          </a:p>
        </p:txBody>
      </p:sp>
      <p:pic>
        <p:nvPicPr>
          <p:cNvPr id="194" name="Google Shape;194;g38eb29cd6a5_0_57" title="WhatsApp Image 2025-10-03 at 8.45.02 PM.jpeg"/>
          <p:cNvPicPr preferRelativeResize="0"/>
          <p:nvPr/>
        </p:nvPicPr>
        <p:blipFill>
          <a:blip r:embed="rId3">
            <a:alphaModFix/>
          </a:blip>
          <a:stretch>
            <a:fillRect/>
          </a:stretch>
        </p:blipFill>
        <p:spPr>
          <a:xfrm>
            <a:off x="1145826" y="2390300"/>
            <a:ext cx="5168900" cy="2250050"/>
          </a:xfrm>
          <a:prstGeom prst="rect">
            <a:avLst/>
          </a:prstGeom>
          <a:noFill/>
          <a:ln>
            <a:noFill/>
          </a:ln>
        </p:spPr>
      </p:pic>
      <p:pic>
        <p:nvPicPr>
          <p:cNvPr id="195" name="Google Shape;195;g38eb29cd6a5_0_57" title="WhatsApp Image 2025-10-03 at 8.47.10 PM.jpeg"/>
          <p:cNvPicPr preferRelativeResize="0"/>
          <p:nvPr/>
        </p:nvPicPr>
        <p:blipFill>
          <a:blip r:embed="rId4">
            <a:alphaModFix/>
          </a:blip>
          <a:stretch>
            <a:fillRect/>
          </a:stretch>
        </p:blipFill>
        <p:spPr>
          <a:xfrm>
            <a:off x="7543800" y="3905934"/>
            <a:ext cx="3810000" cy="1294139"/>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g38eb29cd6a5_0_65"/>
          <p:cNvSpPr txBox="1">
            <a:spLocks noGrp="1"/>
          </p:cNvSpPr>
          <p:nvPr>
            <p:ph type="title"/>
          </p:nvPr>
        </p:nvSpPr>
        <p:spPr>
          <a:xfrm>
            <a:off x="838200" y="193325"/>
            <a:ext cx="10515600" cy="1282800"/>
          </a:xfrm>
          <a:prstGeom prst="rect">
            <a:avLst/>
          </a:prstGeom>
        </p:spPr>
        <p:txBody>
          <a:bodyPr spcFirstLastPara="1" wrap="square" lIns="91425" tIns="45700" rIns="91425" bIns="45700" anchor="ctr" anchorCtr="0">
            <a:normAutofit/>
          </a:bodyPr>
          <a:lstStyle/>
          <a:p>
            <a:pPr marL="0" lvl="0" indent="0" algn="l" rtl="0">
              <a:lnSpc>
                <a:spcPct val="115000"/>
              </a:lnSpc>
              <a:spcBef>
                <a:spcPts val="0"/>
              </a:spcBef>
              <a:spcAft>
                <a:spcPts val="0"/>
              </a:spcAft>
              <a:buClr>
                <a:schemeClr val="dk1"/>
              </a:buClr>
              <a:buSzPts val="1100"/>
              <a:buFont typeface="Arial"/>
              <a:buNone/>
            </a:pPr>
            <a:r>
              <a:rPr lang="en-IN" sz="2200" b="1"/>
              <a:t>5. Who is the best customer? - The customer who has spent the most money will be declared the best customer. Write a query that returns the person who has spent the most money</a:t>
            </a:r>
            <a:endParaRPr sz="5500" b="1"/>
          </a:p>
        </p:txBody>
      </p:sp>
      <p:sp>
        <p:nvSpPr>
          <p:cNvPr id="202" name="Google Shape;202;g38eb29cd6a5_0_65"/>
          <p:cNvSpPr txBox="1">
            <a:spLocks noGrp="1"/>
          </p:cNvSpPr>
          <p:nvPr>
            <p:ph type="body" idx="1"/>
          </p:nvPr>
        </p:nvSpPr>
        <p:spPr>
          <a:xfrm>
            <a:off x="838200" y="1690825"/>
            <a:ext cx="10515600" cy="44859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b="1" dirty="0"/>
              <a:t>Query:</a:t>
            </a:r>
            <a:endParaRPr b="1" dirty="0"/>
          </a:p>
          <a:p>
            <a:pPr marL="0" lvl="0" indent="0" algn="l" rtl="0">
              <a:spcBef>
                <a:spcPts val="1000"/>
              </a:spcBef>
              <a:spcAft>
                <a:spcPts val="0"/>
              </a:spcAft>
              <a:buNone/>
            </a:pPr>
            <a:endParaRPr b="1" dirty="0"/>
          </a:p>
          <a:p>
            <a:pPr marL="0" lvl="0" indent="0" algn="l" rtl="0">
              <a:spcBef>
                <a:spcPts val="1000"/>
              </a:spcBef>
              <a:spcAft>
                <a:spcPts val="0"/>
              </a:spcAft>
              <a:buNone/>
            </a:pPr>
            <a:endParaRPr b="1" dirty="0"/>
          </a:p>
          <a:p>
            <a:pPr marL="0" lvl="0" indent="0" algn="l" rtl="0">
              <a:spcBef>
                <a:spcPts val="1000"/>
              </a:spcBef>
              <a:spcAft>
                <a:spcPts val="0"/>
              </a:spcAft>
              <a:buNone/>
            </a:pPr>
            <a:endParaRPr b="1" dirty="0"/>
          </a:p>
          <a:p>
            <a:pPr marL="0" lvl="0" indent="0" algn="l" rtl="0">
              <a:spcBef>
                <a:spcPts val="1000"/>
              </a:spcBef>
              <a:spcAft>
                <a:spcPts val="0"/>
              </a:spcAft>
              <a:buNone/>
            </a:pPr>
            <a:r>
              <a:rPr lang="en-IN" b="1" dirty="0"/>
              <a:t>                                                                             Output:</a:t>
            </a:r>
            <a:endParaRPr b="1" dirty="0"/>
          </a:p>
        </p:txBody>
      </p:sp>
      <p:pic>
        <p:nvPicPr>
          <p:cNvPr id="203" name="Google Shape;203;g38eb29cd6a5_0_65" title="WhatsApp Image 2025-10-03 at 8.50.58 PM.jpeg"/>
          <p:cNvPicPr preferRelativeResize="0"/>
          <p:nvPr/>
        </p:nvPicPr>
        <p:blipFill>
          <a:blip r:embed="rId3">
            <a:alphaModFix/>
          </a:blip>
          <a:stretch>
            <a:fillRect/>
          </a:stretch>
        </p:blipFill>
        <p:spPr>
          <a:xfrm>
            <a:off x="1049866" y="2371375"/>
            <a:ext cx="5795950" cy="3746500"/>
          </a:xfrm>
          <a:prstGeom prst="rect">
            <a:avLst/>
          </a:prstGeom>
          <a:noFill/>
          <a:ln>
            <a:noFill/>
          </a:ln>
        </p:spPr>
      </p:pic>
      <p:pic>
        <p:nvPicPr>
          <p:cNvPr id="204" name="Google Shape;204;g38eb29cd6a5_0_65" title="WhatsApp Image 2025-10-03 at 8.52.09 PM.jpeg"/>
          <p:cNvPicPr preferRelativeResize="0"/>
          <p:nvPr/>
        </p:nvPicPr>
        <p:blipFill>
          <a:blip r:embed="rId4">
            <a:alphaModFix/>
          </a:blip>
          <a:stretch>
            <a:fillRect/>
          </a:stretch>
        </p:blipFill>
        <p:spPr>
          <a:xfrm>
            <a:off x="7737125" y="4244625"/>
            <a:ext cx="4292599" cy="1143000"/>
          </a:xfrm>
          <a:prstGeom prst="rect">
            <a:avLst/>
          </a:prstGeom>
          <a:noFill/>
          <a:ln>
            <a:noFill/>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g38eb29cd6a5_0_74"/>
          <p:cNvSpPr txBox="1">
            <a:spLocks noGrp="1"/>
          </p:cNvSpPr>
          <p:nvPr>
            <p:ph type="title"/>
          </p:nvPr>
        </p:nvSpPr>
        <p:spPr>
          <a:xfrm>
            <a:off x="838200" y="365125"/>
            <a:ext cx="10515600" cy="794700"/>
          </a:xfrm>
          <a:prstGeom prst="rect">
            <a:avLst/>
          </a:prstGeom>
        </p:spPr>
        <p:txBody>
          <a:bodyPr spcFirstLastPara="1" wrap="square" lIns="91425" tIns="45700" rIns="91425" bIns="45700" anchor="ctr" anchorCtr="0">
            <a:normAutofit fontScale="90000"/>
          </a:bodyPr>
          <a:lstStyle/>
          <a:p>
            <a:pPr marL="0" lvl="0" indent="0" algn="l" rtl="0">
              <a:lnSpc>
                <a:spcPct val="115000"/>
              </a:lnSpc>
              <a:spcBef>
                <a:spcPts val="0"/>
              </a:spcBef>
              <a:spcAft>
                <a:spcPts val="0"/>
              </a:spcAft>
              <a:buClr>
                <a:schemeClr val="dk1"/>
              </a:buClr>
              <a:buSzPct val="47826"/>
              <a:buFont typeface="Arial"/>
              <a:buNone/>
            </a:pPr>
            <a:r>
              <a:rPr lang="en-IN" sz="2300" b="1" dirty="0"/>
              <a:t>6. Write a query to return the email, first name, last name, &amp; Genre of all Rock Music listeners. Return your list ordered alphabetically by email starting with A</a:t>
            </a:r>
            <a:endParaRPr sz="5600" b="1" dirty="0"/>
          </a:p>
        </p:txBody>
      </p:sp>
      <p:sp>
        <p:nvSpPr>
          <p:cNvPr id="212" name="Google Shape;212;g38eb29cd6a5_0_74"/>
          <p:cNvSpPr txBox="1">
            <a:spLocks noGrp="1"/>
          </p:cNvSpPr>
          <p:nvPr>
            <p:ph type="body" idx="1"/>
          </p:nvPr>
        </p:nvSpPr>
        <p:spPr>
          <a:xfrm>
            <a:off x="838200" y="1439325"/>
            <a:ext cx="10515600" cy="47376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2700" b="1" dirty="0"/>
              <a:t>Query:                                                                 </a:t>
            </a:r>
            <a:endParaRPr sz="2700" b="1" dirty="0"/>
          </a:p>
          <a:p>
            <a:pPr marL="0" lvl="0" indent="0" algn="l" rtl="0">
              <a:spcBef>
                <a:spcPts val="1000"/>
              </a:spcBef>
              <a:spcAft>
                <a:spcPts val="0"/>
              </a:spcAft>
              <a:buNone/>
            </a:pPr>
            <a:r>
              <a:rPr lang="en-IN" sz="2700" b="1" dirty="0"/>
              <a:t>                                                                   Output:</a:t>
            </a:r>
            <a:endParaRPr sz="2700" b="1" dirty="0"/>
          </a:p>
          <a:p>
            <a:pPr marL="0" lvl="0" indent="0" algn="l" rtl="0">
              <a:spcBef>
                <a:spcPts val="1000"/>
              </a:spcBef>
              <a:spcAft>
                <a:spcPts val="0"/>
              </a:spcAft>
              <a:buNone/>
            </a:pPr>
            <a:endParaRPr sz="2700" b="1" dirty="0"/>
          </a:p>
        </p:txBody>
      </p:sp>
      <p:pic>
        <p:nvPicPr>
          <p:cNvPr id="213" name="Google Shape;213;g38eb29cd6a5_0_74" title="WhatsApp Image 2025-10-03 at 8.54.57 PM.jpeg"/>
          <p:cNvPicPr preferRelativeResize="0"/>
          <p:nvPr/>
        </p:nvPicPr>
        <p:blipFill>
          <a:blip r:embed="rId3">
            <a:alphaModFix/>
          </a:blip>
          <a:stretch>
            <a:fillRect/>
          </a:stretch>
        </p:blipFill>
        <p:spPr>
          <a:xfrm>
            <a:off x="1068471" y="2148372"/>
            <a:ext cx="4775200" cy="3830625"/>
          </a:xfrm>
          <a:prstGeom prst="rect">
            <a:avLst/>
          </a:prstGeom>
          <a:noFill/>
          <a:ln>
            <a:noFill/>
          </a:ln>
        </p:spPr>
      </p:pic>
      <p:pic>
        <p:nvPicPr>
          <p:cNvPr id="214" name="Google Shape;214;g38eb29cd6a5_0_74" title="WhatsApp Image 2025-10-03 at 8.55.59 PM.jpeg"/>
          <p:cNvPicPr preferRelativeResize="0"/>
          <p:nvPr/>
        </p:nvPicPr>
        <p:blipFill>
          <a:blip r:embed="rId4">
            <a:alphaModFix/>
          </a:blip>
          <a:stretch>
            <a:fillRect/>
          </a:stretch>
        </p:blipFill>
        <p:spPr>
          <a:xfrm>
            <a:off x="6578599" y="2633625"/>
            <a:ext cx="4775201" cy="3644900"/>
          </a:xfrm>
          <a:prstGeom prst="rect">
            <a:avLst/>
          </a:prstGeom>
          <a:noFill/>
          <a:ln>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g38eb29cd6a5_0_83"/>
          <p:cNvSpPr txBox="1">
            <a:spLocks noGrp="1"/>
          </p:cNvSpPr>
          <p:nvPr>
            <p:ph type="title"/>
          </p:nvPr>
        </p:nvSpPr>
        <p:spPr>
          <a:xfrm>
            <a:off x="838200" y="182025"/>
            <a:ext cx="10515600" cy="1041300"/>
          </a:xfrm>
          <a:prstGeom prst="rect">
            <a:avLst/>
          </a:prstGeom>
        </p:spPr>
        <p:txBody>
          <a:bodyPr spcFirstLastPara="1" wrap="square" lIns="91425" tIns="45700" rIns="91425" bIns="45700" anchor="ctr" anchorCtr="0">
            <a:normAutofit/>
          </a:bodyPr>
          <a:lstStyle/>
          <a:p>
            <a:pPr marL="0" lvl="0" indent="0" algn="l" rtl="0">
              <a:lnSpc>
                <a:spcPct val="115000"/>
              </a:lnSpc>
              <a:spcBef>
                <a:spcPts val="0"/>
              </a:spcBef>
              <a:spcAft>
                <a:spcPts val="0"/>
              </a:spcAft>
              <a:buClr>
                <a:schemeClr val="dk1"/>
              </a:buClr>
              <a:buSzPts val="1100"/>
              <a:buFont typeface="Arial"/>
              <a:buNone/>
            </a:pPr>
            <a:r>
              <a:rPr lang="en-IN" sz="2100" b="1"/>
              <a:t>7. Let's invite the artists who have written the most rock music in our dataset. Write a query that returns the Artist name and total track count of the top 10 rock bands </a:t>
            </a:r>
            <a:endParaRPr sz="5400" b="1"/>
          </a:p>
        </p:txBody>
      </p:sp>
      <p:sp>
        <p:nvSpPr>
          <p:cNvPr id="221" name="Google Shape;221;g38eb29cd6a5_0_83"/>
          <p:cNvSpPr txBox="1">
            <a:spLocks noGrp="1"/>
          </p:cNvSpPr>
          <p:nvPr>
            <p:ph type="body" idx="1"/>
          </p:nvPr>
        </p:nvSpPr>
        <p:spPr>
          <a:xfrm>
            <a:off x="838200" y="1337725"/>
            <a:ext cx="10515600" cy="48390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b="1"/>
              <a:t>Query:</a:t>
            </a:r>
            <a:endParaRPr b="1"/>
          </a:p>
          <a:p>
            <a:pPr marL="0" lvl="0" indent="0" algn="l" rtl="0">
              <a:spcBef>
                <a:spcPts val="1000"/>
              </a:spcBef>
              <a:spcAft>
                <a:spcPts val="0"/>
              </a:spcAft>
              <a:buNone/>
            </a:pPr>
            <a:endParaRPr b="1"/>
          </a:p>
          <a:p>
            <a:pPr marL="0" lvl="0" indent="0" algn="l" rtl="0">
              <a:spcBef>
                <a:spcPts val="1000"/>
              </a:spcBef>
              <a:spcAft>
                <a:spcPts val="0"/>
              </a:spcAft>
              <a:buNone/>
            </a:pPr>
            <a:endParaRPr b="1"/>
          </a:p>
          <a:p>
            <a:pPr marL="0" lvl="0" indent="0" algn="l" rtl="0">
              <a:spcBef>
                <a:spcPts val="1000"/>
              </a:spcBef>
              <a:spcAft>
                <a:spcPts val="0"/>
              </a:spcAft>
              <a:buNone/>
            </a:pPr>
            <a:r>
              <a:rPr lang="en-IN" b="1"/>
              <a:t>                                                                             Output:</a:t>
            </a:r>
            <a:endParaRPr b="1"/>
          </a:p>
        </p:txBody>
      </p:sp>
      <p:pic>
        <p:nvPicPr>
          <p:cNvPr id="222" name="Google Shape;222;g38eb29cd6a5_0_83" title="WhatsApp Image 2025-10-03 at 8.58.17 PM.jpeg"/>
          <p:cNvPicPr preferRelativeResize="0"/>
          <p:nvPr/>
        </p:nvPicPr>
        <p:blipFill>
          <a:blip r:embed="rId3">
            <a:alphaModFix/>
          </a:blip>
          <a:stretch>
            <a:fillRect/>
          </a:stretch>
        </p:blipFill>
        <p:spPr>
          <a:xfrm>
            <a:off x="1127352" y="2142068"/>
            <a:ext cx="5054600" cy="3556375"/>
          </a:xfrm>
          <a:prstGeom prst="rect">
            <a:avLst/>
          </a:prstGeom>
          <a:noFill/>
          <a:ln>
            <a:noFill/>
          </a:ln>
        </p:spPr>
      </p:pic>
      <p:pic>
        <p:nvPicPr>
          <p:cNvPr id="223" name="Google Shape;223;g38eb29cd6a5_0_83" title="WhatsApp Image 2025-10-03 at 8.59.48 PM.jpeg"/>
          <p:cNvPicPr preferRelativeResize="0"/>
          <p:nvPr/>
        </p:nvPicPr>
        <p:blipFill>
          <a:blip r:embed="rId4">
            <a:alphaModFix/>
          </a:blip>
          <a:stretch>
            <a:fillRect/>
          </a:stretch>
        </p:blipFill>
        <p:spPr>
          <a:xfrm>
            <a:off x="7526998" y="3471425"/>
            <a:ext cx="4203700" cy="2819700"/>
          </a:xfrm>
          <a:prstGeom prst="rect">
            <a:avLst/>
          </a:prstGeom>
          <a:noFill/>
          <a:ln>
            <a:noFill/>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38eb29cd6a5_0_91"/>
          <p:cNvSpPr txBox="1">
            <a:spLocks noGrp="1"/>
          </p:cNvSpPr>
          <p:nvPr>
            <p:ph type="title"/>
          </p:nvPr>
        </p:nvSpPr>
        <p:spPr>
          <a:xfrm>
            <a:off x="838200" y="156625"/>
            <a:ext cx="10515600" cy="1282800"/>
          </a:xfrm>
          <a:prstGeom prst="rect">
            <a:avLst/>
          </a:prstGeom>
        </p:spPr>
        <p:txBody>
          <a:bodyPr spcFirstLastPara="1" wrap="square" lIns="91425" tIns="45700" rIns="91425" bIns="45700" anchor="ctr" anchorCtr="0">
            <a:normAutofit/>
          </a:bodyPr>
          <a:lstStyle/>
          <a:p>
            <a:pPr marL="0" lvl="0" indent="0" algn="l" rtl="0">
              <a:lnSpc>
                <a:spcPct val="115000"/>
              </a:lnSpc>
              <a:spcBef>
                <a:spcPts val="0"/>
              </a:spcBef>
              <a:spcAft>
                <a:spcPts val="0"/>
              </a:spcAft>
              <a:buClr>
                <a:schemeClr val="dk1"/>
              </a:buClr>
              <a:buSzPts val="1100"/>
              <a:buFont typeface="Arial"/>
              <a:buNone/>
            </a:pPr>
            <a:r>
              <a:rPr lang="en-IN" sz="2200" b="1"/>
              <a:t>8. Return all the track names that have a song length longer than the average song length.- Return the Name and Milliseconds for each track. Order by the song length, with the longest songs listed first</a:t>
            </a:r>
            <a:endParaRPr sz="5500" b="1"/>
          </a:p>
        </p:txBody>
      </p:sp>
      <p:sp>
        <p:nvSpPr>
          <p:cNvPr id="230" name="Google Shape;230;g38eb29cd6a5_0_91"/>
          <p:cNvSpPr txBox="1">
            <a:spLocks noGrp="1"/>
          </p:cNvSpPr>
          <p:nvPr>
            <p:ph type="body" idx="1"/>
          </p:nvPr>
        </p:nvSpPr>
        <p:spPr>
          <a:xfrm>
            <a:off x="838200" y="1744125"/>
            <a:ext cx="10515600" cy="44328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2600" b="1" dirty="0"/>
              <a:t>Query:                                                              </a:t>
            </a:r>
            <a:r>
              <a:rPr lang="en-IN" sz="2600" b="1" dirty="0" smtClean="0"/>
              <a:t>   Output</a:t>
            </a:r>
            <a:r>
              <a:rPr lang="en-IN" sz="2600" b="1" dirty="0"/>
              <a:t>:</a:t>
            </a:r>
            <a:endParaRPr sz="2600" b="1" dirty="0"/>
          </a:p>
          <a:p>
            <a:pPr marL="0" lvl="0" indent="0" algn="l" rtl="0">
              <a:spcBef>
                <a:spcPts val="1000"/>
              </a:spcBef>
              <a:spcAft>
                <a:spcPts val="0"/>
              </a:spcAft>
              <a:buNone/>
            </a:pPr>
            <a:endParaRPr sz="2600" b="1" dirty="0"/>
          </a:p>
        </p:txBody>
      </p:sp>
      <p:pic>
        <p:nvPicPr>
          <p:cNvPr id="231" name="Google Shape;231;g38eb29cd6a5_0_91" title="WhatsApp Image 2025-10-03 at 9.03.06 PM (1).jpeg"/>
          <p:cNvPicPr preferRelativeResize="0"/>
          <p:nvPr/>
        </p:nvPicPr>
        <p:blipFill>
          <a:blip r:embed="rId3">
            <a:alphaModFix/>
          </a:blip>
          <a:stretch>
            <a:fillRect/>
          </a:stretch>
        </p:blipFill>
        <p:spPr>
          <a:xfrm>
            <a:off x="1069625" y="2449663"/>
            <a:ext cx="4851400" cy="3206475"/>
          </a:xfrm>
          <a:prstGeom prst="rect">
            <a:avLst/>
          </a:prstGeom>
          <a:noFill/>
          <a:ln>
            <a:noFill/>
          </a:ln>
        </p:spPr>
      </p:pic>
      <p:pic>
        <p:nvPicPr>
          <p:cNvPr id="232" name="Google Shape;232;g38eb29cd6a5_0_91"/>
          <p:cNvPicPr preferRelativeResize="0"/>
          <p:nvPr/>
        </p:nvPicPr>
        <p:blipFill>
          <a:blip r:embed="rId4">
            <a:alphaModFix/>
          </a:blip>
          <a:stretch>
            <a:fillRect/>
          </a:stretch>
        </p:blipFill>
        <p:spPr>
          <a:xfrm>
            <a:off x="7249907" y="2449663"/>
            <a:ext cx="4470400" cy="3574776"/>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g38eb29cd6a5_0_99"/>
          <p:cNvSpPr txBox="1">
            <a:spLocks noGrp="1"/>
          </p:cNvSpPr>
          <p:nvPr>
            <p:ph type="title"/>
          </p:nvPr>
        </p:nvSpPr>
        <p:spPr>
          <a:xfrm>
            <a:off x="838200" y="207425"/>
            <a:ext cx="10515600" cy="978000"/>
          </a:xfrm>
          <a:prstGeom prst="rect">
            <a:avLst/>
          </a:prstGeom>
        </p:spPr>
        <p:txBody>
          <a:bodyPr spcFirstLastPara="1" wrap="square" lIns="91425" tIns="45700" rIns="91425" bIns="45700" anchor="ctr" anchorCtr="0">
            <a:normAutofit/>
          </a:bodyPr>
          <a:lstStyle/>
          <a:p>
            <a:pPr marL="0" lvl="0" indent="0" algn="l" rtl="0">
              <a:lnSpc>
                <a:spcPct val="115000"/>
              </a:lnSpc>
              <a:spcBef>
                <a:spcPts val="0"/>
              </a:spcBef>
              <a:spcAft>
                <a:spcPts val="0"/>
              </a:spcAft>
              <a:buClr>
                <a:schemeClr val="dk1"/>
              </a:buClr>
              <a:buSzPts val="1100"/>
              <a:buFont typeface="Arial"/>
              <a:buNone/>
            </a:pPr>
            <a:r>
              <a:rPr lang="en-IN" sz="2200" b="1"/>
              <a:t>9. Find how much amount is spent by each customer on artists? Write a query to return customer name, artist name and total spent </a:t>
            </a:r>
            <a:endParaRPr sz="5500" b="1"/>
          </a:p>
        </p:txBody>
      </p:sp>
      <p:sp>
        <p:nvSpPr>
          <p:cNvPr id="239" name="Google Shape;239;g38eb29cd6a5_0_99"/>
          <p:cNvSpPr txBox="1">
            <a:spLocks noGrp="1"/>
          </p:cNvSpPr>
          <p:nvPr>
            <p:ph type="body" idx="1"/>
          </p:nvPr>
        </p:nvSpPr>
        <p:spPr>
          <a:xfrm>
            <a:off x="838200" y="1299625"/>
            <a:ext cx="10515600" cy="48771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b="1"/>
              <a:t>Query:                                                             Output:</a:t>
            </a:r>
            <a:endParaRPr b="1"/>
          </a:p>
        </p:txBody>
      </p:sp>
      <p:pic>
        <p:nvPicPr>
          <p:cNvPr id="240" name="Google Shape;240;g38eb29cd6a5_0_99" title="WhatsApp Image 2025-10-03 at 9.07.52 PM.jpeg"/>
          <p:cNvPicPr preferRelativeResize="0"/>
          <p:nvPr/>
        </p:nvPicPr>
        <p:blipFill>
          <a:blip r:embed="rId3">
            <a:alphaModFix/>
          </a:blip>
          <a:stretch>
            <a:fillRect/>
          </a:stretch>
        </p:blipFill>
        <p:spPr>
          <a:xfrm>
            <a:off x="1178152" y="2012270"/>
            <a:ext cx="4546599" cy="4074100"/>
          </a:xfrm>
          <a:prstGeom prst="rect">
            <a:avLst/>
          </a:prstGeom>
          <a:noFill/>
          <a:ln>
            <a:noFill/>
          </a:ln>
        </p:spPr>
      </p:pic>
      <p:pic>
        <p:nvPicPr>
          <p:cNvPr id="241" name="Google Shape;241;g38eb29cd6a5_0_99"/>
          <p:cNvPicPr preferRelativeResize="0"/>
          <p:nvPr/>
        </p:nvPicPr>
        <p:blipFill rotWithShape="1">
          <a:blip r:embed="rId4">
            <a:alphaModFix/>
          </a:blip>
          <a:srcRect l="18334" t="42494" r="51737" b="7884"/>
          <a:stretch/>
        </p:blipFill>
        <p:spPr>
          <a:xfrm>
            <a:off x="7348427" y="2012270"/>
            <a:ext cx="4546598" cy="3896300"/>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38eb29cd6a5_0_107"/>
          <p:cNvSpPr txBox="1">
            <a:spLocks noGrp="1"/>
          </p:cNvSpPr>
          <p:nvPr>
            <p:ph type="title"/>
          </p:nvPr>
        </p:nvSpPr>
        <p:spPr>
          <a:xfrm>
            <a:off x="838200" y="156625"/>
            <a:ext cx="10515600" cy="1359000"/>
          </a:xfrm>
          <a:prstGeom prst="rect">
            <a:avLst/>
          </a:prstGeom>
        </p:spPr>
        <p:txBody>
          <a:bodyPr spcFirstLastPara="1" wrap="square" lIns="91425" tIns="45700" rIns="91425" bIns="45700" anchor="ctr" anchorCtr="0">
            <a:noAutofit/>
          </a:bodyPr>
          <a:lstStyle/>
          <a:p>
            <a:pPr marL="0" lvl="0" indent="0" algn="l" rtl="0">
              <a:lnSpc>
                <a:spcPct val="115000"/>
              </a:lnSpc>
              <a:spcBef>
                <a:spcPts val="0"/>
              </a:spcBef>
              <a:spcAft>
                <a:spcPts val="0"/>
              </a:spcAft>
              <a:buClr>
                <a:schemeClr val="dk1"/>
              </a:buClr>
              <a:buSzPts val="1100"/>
              <a:buFont typeface="Arial"/>
              <a:buNone/>
            </a:pPr>
            <a:r>
              <a:rPr lang="en-IN" sz="2100" b="1"/>
              <a:t>10.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a:t>
            </a:r>
            <a:endParaRPr sz="5400" b="1"/>
          </a:p>
        </p:txBody>
      </p:sp>
      <p:sp>
        <p:nvSpPr>
          <p:cNvPr id="248" name="Google Shape;248;g38eb29cd6a5_0_107"/>
          <p:cNvSpPr txBox="1">
            <a:spLocks noGrp="1"/>
          </p:cNvSpPr>
          <p:nvPr>
            <p:ph type="body" idx="1"/>
          </p:nvPr>
        </p:nvSpPr>
        <p:spPr>
          <a:xfrm>
            <a:off x="838200" y="1693325"/>
            <a:ext cx="10515600" cy="44835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b="1"/>
              <a:t>Query:                                                              Output:</a:t>
            </a:r>
            <a:endParaRPr b="1"/>
          </a:p>
          <a:p>
            <a:pPr marL="0" lvl="0" indent="0" algn="l" rtl="0">
              <a:spcBef>
                <a:spcPts val="1000"/>
              </a:spcBef>
              <a:spcAft>
                <a:spcPts val="0"/>
              </a:spcAft>
              <a:buNone/>
            </a:pPr>
            <a:endParaRPr b="1"/>
          </a:p>
        </p:txBody>
      </p:sp>
      <p:pic>
        <p:nvPicPr>
          <p:cNvPr id="249" name="Google Shape;249;g38eb29cd6a5_0_107" title="WhatsApp Image 2025-10-03 at 9.09.41 PM.jpeg"/>
          <p:cNvPicPr preferRelativeResize="0"/>
          <p:nvPr/>
        </p:nvPicPr>
        <p:blipFill>
          <a:blip r:embed="rId3">
            <a:alphaModFix/>
          </a:blip>
          <a:stretch>
            <a:fillRect/>
          </a:stretch>
        </p:blipFill>
        <p:spPr>
          <a:xfrm>
            <a:off x="1022289" y="2290225"/>
            <a:ext cx="5156199" cy="4199801"/>
          </a:xfrm>
          <a:prstGeom prst="rect">
            <a:avLst/>
          </a:prstGeom>
          <a:noFill/>
          <a:ln>
            <a:noFill/>
          </a:ln>
        </p:spPr>
      </p:pic>
      <p:pic>
        <p:nvPicPr>
          <p:cNvPr id="250" name="Google Shape;250;g38eb29cd6a5_0_107" title="WhatsApp Image 2025-10-03 at 9.11.02 PM.jpeg"/>
          <p:cNvPicPr preferRelativeResize="0"/>
          <p:nvPr/>
        </p:nvPicPr>
        <p:blipFill>
          <a:blip r:embed="rId4">
            <a:alphaModFix/>
          </a:blip>
          <a:stretch>
            <a:fillRect/>
          </a:stretch>
        </p:blipFill>
        <p:spPr>
          <a:xfrm>
            <a:off x="7531616" y="2290225"/>
            <a:ext cx="4216400" cy="3886600"/>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g38eb29cd6a5_0_115"/>
          <p:cNvSpPr txBox="1">
            <a:spLocks noGrp="1"/>
          </p:cNvSpPr>
          <p:nvPr>
            <p:ph type="title"/>
          </p:nvPr>
        </p:nvSpPr>
        <p:spPr>
          <a:xfrm>
            <a:off x="838200" y="169325"/>
            <a:ext cx="10515600" cy="1231800"/>
          </a:xfrm>
          <a:prstGeom prst="rect">
            <a:avLst/>
          </a:prstGeom>
        </p:spPr>
        <p:txBody>
          <a:bodyPr spcFirstLastPara="1" wrap="square" lIns="91425" tIns="45700" rIns="91425" bIns="45700" anchor="ctr" anchorCtr="0">
            <a:noAutofit/>
          </a:bodyPr>
          <a:lstStyle/>
          <a:p>
            <a:pPr marL="0" lvl="0" indent="0" algn="l" rtl="0">
              <a:lnSpc>
                <a:spcPct val="115000"/>
              </a:lnSpc>
              <a:spcBef>
                <a:spcPts val="0"/>
              </a:spcBef>
              <a:spcAft>
                <a:spcPts val="0"/>
              </a:spcAft>
              <a:buClr>
                <a:schemeClr val="dk1"/>
              </a:buClr>
              <a:buSzPts val="1100"/>
              <a:buFont typeface="Arial"/>
              <a:buNone/>
            </a:pPr>
            <a:r>
              <a:rPr lang="en-IN" sz="1900" b="1">
                <a:latin typeface="Arial"/>
                <a:ea typeface="Arial"/>
                <a:cs typeface="Arial"/>
                <a:sym typeface="Arial"/>
              </a:rPr>
              <a:t>11. 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endParaRPr sz="5200" b="1"/>
          </a:p>
        </p:txBody>
      </p:sp>
      <p:sp>
        <p:nvSpPr>
          <p:cNvPr id="257" name="Google Shape;257;g38eb29cd6a5_0_115"/>
          <p:cNvSpPr txBox="1">
            <a:spLocks noGrp="1"/>
          </p:cNvSpPr>
          <p:nvPr>
            <p:ph type="body" idx="1"/>
          </p:nvPr>
        </p:nvSpPr>
        <p:spPr>
          <a:xfrm>
            <a:off x="838200" y="1477425"/>
            <a:ext cx="10515600" cy="4699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en-IN" sz="2600" b="1"/>
              <a:t>Query:                                                                     Output:</a:t>
            </a:r>
            <a:endParaRPr sz="2600" b="1"/>
          </a:p>
        </p:txBody>
      </p:sp>
      <p:pic>
        <p:nvPicPr>
          <p:cNvPr id="258" name="Google Shape;258;g38eb29cd6a5_0_115" title="WhatsApp Image 2025-10-03 at 9.13.24 PM.jpeg"/>
          <p:cNvPicPr preferRelativeResize="0"/>
          <p:nvPr/>
        </p:nvPicPr>
        <p:blipFill rotWithShape="1">
          <a:blip r:embed="rId3">
            <a:alphaModFix/>
          </a:blip>
          <a:srcRect r="2714"/>
          <a:stretch/>
        </p:blipFill>
        <p:spPr>
          <a:xfrm>
            <a:off x="1000352" y="2144752"/>
            <a:ext cx="5461001" cy="4343400"/>
          </a:xfrm>
          <a:prstGeom prst="rect">
            <a:avLst/>
          </a:prstGeom>
          <a:noFill/>
          <a:ln>
            <a:noFill/>
          </a:ln>
        </p:spPr>
      </p:pic>
      <p:pic>
        <p:nvPicPr>
          <p:cNvPr id="259" name="Google Shape;259;g38eb29cd6a5_0_115" title="WhatsApp Image 2025-10-03 at 9.14.31 PM.jpeg"/>
          <p:cNvPicPr preferRelativeResize="0"/>
          <p:nvPr/>
        </p:nvPicPr>
        <p:blipFill>
          <a:blip r:embed="rId4">
            <a:alphaModFix/>
          </a:blip>
          <a:stretch>
            <a:fillRect/>
          </a:stretch>
        </p:blipFill>
        <p:spPr>
          <a:xfrm>
            <a:off x="7722850" y="1988989"/>
            <a:ext cx="4129075" cy="4343400"/>
          </a:xfrm>
          <a:prstGeom prst="rect">
            <a:avLst/>
          </a:prstGeom>
          <a:noFill/>
          <a:ln>
            <a:noFill/>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smtClean="0"/>
              <a:t>CONCLUSION:</a:t>
            </a:r>
            <a:endParaRPr lang="en-IN" sz="4000" b="1" dirty="0"/>
          </a:p>
        </p:txBody>
      </p:sp>
      <p:sp>
        <p:nvSpPr>
          <p:cNvPr id="3" name="Text Placeholder 2"/>
          <p:cNvSpPr>
            <a:spLocks noGrp="1"/>
          </p:cNvSpPr>
          <p:nvPr>
            <p:ph type="body" idx="1"/>
          </p:nvPr>
        </p:nvSpPr>
        <p:spPr/>
        <p:txBody>
          <a:bodyPr/>
          <a:lstStyle/>
          <a:p>
            <a:pPr marL="114300" indent="0">
              <a:buNone/>
            </a:pPr>
            <a:r>
              <a:rPr lang="en-US" dirty="0" smtClean="0"/>
              <a:t>Our </a:t>
            </a:r>
            <a:r>
              <a:rPr lang="en-US" b="1" dirty="0"/>
              <a:t>Music Store Management System </a:t>
            </a:r>
            <a:r>
              <a:rPr lang="en-US" dirty="0"/>
              <a:t>project helped us understand how SQL can turn raw data into </a:t>
            </a:r>
            <a:r>
              <a:rPr lang="en-US" b="1" dirty="0"/>
              <a:t>useful insights</a:t>
            </a:r>
            <a:r>
              <a:rPr lang="en-US" dirty="0"/>
              <a:t>.</a:t>
            </a:r>
            <a:br>
              <a:rPr lang="en-US" dirty="0"/>
            </a:br>
            <a:r>
              <a:rPr lang="en-US" dirty="0"/>
              <a:t>We explored employee, customer, and music patterns using </a:t>
            </a:r>
            <a:r>
              <a:rPr lang="en-US" b="1" dirty="0"/>
              <a:t>joins, aggregates, and subqueries</a:t>
            </a:r>
            <a:r>
              <a:rPr lang="en-US" dirty="0"/>
              <a:t>.</a:t>
            </a:r>
            <a:br>
              <a:rPr lang="en-US" dirty="0"/>
            </a:br>
            <a:r>
              <a:rPr lang="en-US" dirty="0"/>
              <a:t>Overall, it was a great learning experience that showed us how databases help in real business decision-making.</a:t>
            </a:r>
            <a:endParaRPr lang="en-IN" dirty="0"/>
          </a:p>
        </p:txBody>
      </p:sp>
    </p:spTree>
    <p:extLst>
      <p:ext uri="{BB962C8B-B14F-4D97-AF65-F5344CB8AC3E}">
        <p14:creationId xmlns:p14="http://schemas.microsoft.com/office/powerpoint/2010/main" val="29467118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pic>
        <p:nvPicPr>
          <p:cNvPr id="264" name="Google Shape;264;p5"/>
          <p:cNvPicPr preferRelativeResize="0"/>
          <p:nvPr/>
        </p:nvPicPr>
        <p:blipFill rotWithShape="1">
          <a:blip r:embed="rId3">
            <a:alphaModFix/>
          </a:blip>
          <a:srcRect/>
          <a:stretch/>
        </p:blipFill>
        <p:spPr>
          <a:xfrm>
            <a:off x="6402291" y="810499"/>
            <a:ext cx="4465642" cy="2834317"/>
          </a:xfrm>
          <a:prstGeom prst="rect">
            <a:avLst/>
          </a:prstGeom>
          <a:noFill/>
          <a:ln>
            <a:noFill/>
          </a:ln>
        </p:spPr>
      </p:pic>
      <p:sp>
        <p:nvSpPr>
          <p:cNvPr id="265" name="Google Shape;265;p5"/>
          <p:cNvSpPr txBox="1"/>
          <p:nvPr/>
        </p:nvSpPr>
        <p:spPr>
          <a:xfrm>
            <a:off x="746300" y="2057675"/>
            <a:ext cx="4957200" cy="899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839</Words>
  <Application>Microsoft Office PowerPoint</Application>
  <PresentationFormat>Widescreen</PresentationFormat>
  <Paragraphs>117</Paragraphs>
  <Slides>21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Lato Black</vt:lpstr>
      <vt:lpstr>Libre Baskerville</vt:lpstr>
      <vt:lpstr>Calibri</vt:lpstr>
      <vt:lpstr>Office Theme</vt:lpstr>
      <vt:lpstr>PowerPoint Presentation</vt:lpstr>
      <vt:lpstr>PowerPoint Presentation</vt:lpstr>
      <vt:lpstr>INTRODUCTION:  </vt:lpstr>
      <vt:lpstr>                                       TABLES</vt:lpstr>
      <vt:lpstr>                                        TABLES</vt:lpstr>
      <vt:lpstr>                                         TABLES</vt:lpstr>
      <vt:lpstr>                                      ER DIAGRAM</vt:lpstr>
      <vt:lpstr>Problem Statement:</vt:lpstr>
      <vt:lpstr>1. Who is the senior most employee based on job title? </vt:lpstr>
      <vt:lpstr>               2. Which countries have the most Invoices?</vt:lpstr>
      <vt:lpstr>         3. What are the top 3 values of total invoice?</vt:lpstr>
      <vt:lpstr>4. Which city has the best customers? - We would like to throw a promotional Music Festival in the city we made the most money. Write a query that returns one city that has the highest sum of invoice totals. Return both the city name &amp; sum of all invoice totals</vt:lpstr>
      <vt:lpstr>5. Who is the best customer? - The customer who has spent the most money will be declared the best customer. Write a query that returns the person who has spent the most money</vt:lpstr>
      <vt:lpstr>6. Write a query to return the email, first name, last name, &amp; Genre of all Rock Music listeners. Return your list ordered alphabetically by email starting with A</vt:lpstr>
      <vt:lpstr>7. Let's invite the artists who have written the most rock music in our dataset. Write a query that returns the Artist name and total track count of the top 10 rock bands </vt:lpstr>
      <vt:lpstr>8. Return all the track names that have a song length longer than the average song length.- Return the Name and Milliseconds for each track. Order by the song length, with the longest songs listed first</vt:lpstr>
      <vt:lpstr>9. Find how much amount is spent by each customer on artists? Write a query to return customer name, artist name and total spent </vt:lpstr>
      <vt:lpstr>10.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vt:lpstr>
      <vt:lpstr>11. Write a query that determines the customer that has spent the most on music for each country. Write a query that returns the country along with the top customer and how much they spent. For countries where the top amount spent is shared, provide all customers who spent this amount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Lenovo</cp:lastModifiedBy>
  <cp:revision>4</cp:revision>
  <dcterms:created xsi:type="dcterms:W3CDTF">2021-02-16T05:19:01Z</dcterms:created>
  <dcterms:modified xsi:type="dcterms:W3CDTF">2025-10-16T10:04:41Z</dcterms:modified>
</cp:coreProperties>
</file>